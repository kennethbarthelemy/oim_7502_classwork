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Hanken Grotesk" pitchFamily="2" charset="77"/>
      <p:regular r:id="rId16"/>
      <p:bold r:id="rId17"/>
      <p:italic r:id="rId18"/>
      <p:boldItalic r:id="rId19"/>
    </p:embeddedFont>
    <p:embeddedFont>
      <p:font typeface="Hanken Grotesk SemiBold" pitchFamily="2" charset="77"/>
      <p:regular r:id="rId20"/>
      <p:bold r:id="rId21"/>
      <p:italic r:id="rId22"/>
      <p:boldItalic r:id="rId23"/>
    </p:embeddedFont>
    <p:embeddedFont>
      <p:font typeface="Inter" panose="02000503000000020004" pitchFamily="2" charset="0"/>
      <p:regular r:id="rId24"/>
      <p:bold r:id="rId25"/>
      <p:italic r:id="rId26"/>
      <p:boldItalic r:id="rId27"/>
    </p:embeddedFont>
    <p:embeddedFont>
      <p:font typeface="Patrick Hand" pitchFamily="2" charset="77"/>
      <p:regular r:id="rId28"/>
    </p:embeddedFont>
    <p:embeddedFont>
      <p:font typeface="Patrick Hand SC" pitchFamily="2" charset="77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9"/>
    <p:restoredTop sz="94693"/>
  </p:normalViewPr>
  <p:slideViewPr>
    <p:cSldViewPr snapToGrid="0">
      <p:cViewPr varScale="1">
        <p:scale>
          <a:sx n="173" d="100"/>
          <a:sy n="173" d="100"/>
        </p:scale>
        <p:origin x="200" y="15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LIDES_API30135905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LIDES_API30135905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S_API301359055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S_API301359055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SLIDES_API301359055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SLIDES_API301359055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LIDES_API301359055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SLIDES_API301359055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SLIDES_API301359055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SLIDES_API301359055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SLIDES_API301359055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SLIDES_API301359055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SLIDES_API301359055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SLIDES_API301359055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SLIDES_API301359055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SLIDES_API301359055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SLIDES_API301359055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SLIDES_API301359055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SLIDES_API301359055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SLIDES_API301359055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SLIDES_API301359055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SLIDES_API301359055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SLIDES_API301359055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SLIDES_API301359055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171700" y="940698"/>
            <a:ext cx="4800600" cy="24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 i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719817" y="3364264"/>
            <a:ext cx="37044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A">
  <p:cSld name="Title only A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064325" y="472606"/>
            <a:ext cx="708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1064325" y="472606"/>
            <a:ext cx="708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285875" y="1467294"/>
            <a:ext cx="4829100" cy="3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A">
  <p:cSld name="Blank A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234450" y="356200"/>
            <a:ext cx="5481900" cy="5727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457200" y="1791950"/>
            <a:ext cx="5259000" cy="2790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marL="457200" lvl="0" indent="-317500">
              <a:spcBef>
                <a:spcPts val="9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500"/>
              </a:spcBef>
              <a:spcAft>
                <a:spcPts val="15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6173525" y="-13300"/>
            <a:ext cx="2970600" cy="515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3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457200" y="1293450"/>
            <a:ext cx="8229600" cy="327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0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457200" y="537750"/>
            <a:ext cx="5603400" cy="7557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us Light">
  <p:cSld name="CUSTOM_2_1_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ubTitle" idx="1"/>
          </p:nvPr>
        </p:nvSpPr>
        <p:spPr>
          <a:xfrm>
            <a:off x="457200" y="1142050"/>
            <a:ext cx="5519400" cy="44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2">
  <p:cSld name="CUSTOM_3_1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457200" y="1834900"/>
            <a:ext cx="3776100" cy="2734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2"/>
          </p:nvPr>
        </p:nvSpPr>
        <p:spPr>
          <a:xfrm>
            <a:off x="4800400" y="1834900"/>
            <a:ext cx="3776100" cy="2734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ubTitle" idx="3"/>
          </p:nvPr>
        </p:nvSpPr>
        <p:spPr>
          <a:xfrm>
            <a:off x="457200" y="1164900"/>
            <a:ext cx="3776100" cy="572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ubTitle" idx="4"/>
          </p:nvPr>
        </p:nvSpPr>
        <p:spPr>
          <a:xfrm>
            <a:off x="4800400" y="1164900"/>
            <a:ext cx="3776100" cy="572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8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ection-2 1">
  <p:cSld name="CUSTOM_3_2_1_1_1_1_1_2"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457200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ubTitle" idx="2"/>
          </p:nvPr>
        </p:nvSpPr>
        <p:spPr>
          <a:xfrm>
            <a:off x="457200" y="1477250"/>
            <a:ext cx="1942500" cy="53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3"/>
          </p:nvPr>
        </p:nvSpPr>
        <p:spPr>
          <a:xfrm>
            <a:off x="2552930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ubTitle" idx="4"/>
          </p:nvPr>
        </p:nvSpPr>
        <p:spPr>
          <a:xfrm>
            <a:off x="2552930" y="1477250"/>
            <a:ext cx="1942500" cy="53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body" idx="5"/>
          </p:nvPr>
        </p:nvSpPr>
        <p:spPr>
          <a:xfrm>
            <a:off x="4648660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ubTitle" idx="6"/>
          </p:nvPr>
        </p:nvSpPr>
        <p:spPr>
          <a:xfrm>
            <a:off x="4648660" y="1477250"/>
            <a:ext cx="1942500" cy="53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7"/>
          </p:nvPr>
        </p:nvSpPr>
        <p:spPr>
          <a:xfrm>
            <a:off x="6744392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8"/>
          </p:nvPr>
        </p:nvSpPr>
        <p:spPr>
          <a:xfrm>
            <a:off x="6744392" y="1477250"/>
            <a:ext cx="1942500" cy="53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ection-2 1 1">
  <p:cSld name="CUSTOM_3_2_1_1_1_1_1_2_1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491175" y="1593548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2"/>
          </p:nvPr>
        </p:nvSpPr>
        <p:spPr>
          <a:xfrm>
            <a:off x="491175" y="1253075"/>
            <a:ext cx="3958800" cy="34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body" idx="3"/>
          </p:nvPr>
        </p:nvSpPr>
        <p:spPr>
          <a:xfrm>
            <a:off x="4762105" y="1593548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ubTitle" idx="4"/>
          </p:nvPr>
        </p:nvSpPr>
        <p:spPr>
          <a:xfrm>
            <a:off x="4762102" y="1253075"/>
            <a:ext cx="3958800" cy="34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5"/>
          </p:nvPr>
        </p:nvSpPr>
        <p:spPr>
          <a:xfrm>
            <a:off x="491113" y="3393823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ubTitle" idx="6"/>
          </p:nvPr>
        </p:nvSpPr>
        <p:spPr>
          <a:xfrm>
            <a:off x="491113" y="3053350"/>
            <a:ext cx="3958800" cy="34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7"/>
          </p:nvPr>
        </p:nvSpPr>
        <p:spPr>
          <a:xfrm>
            <a:off x="4762042" y="3393823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subTitle" idx="8"/>
          </p:nvPr>
        </p:nvSpPr>
        <p:spPr>
          <a:xfrm>
            <a:off x="4762040" y="3053350"/>
            <a:ext cx="3958800" cy="34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064325" y="472606"/>
            <a:ext cx="708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atrick Hand SC"/>
              <a:buNone/>
              <a:defRPr sz="2700" b="1" i="0" u="none" strike="noStrike" cap="none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sz="14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285875" y="1341474"/>
            <a:ext cx="6574800" cy="3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L="914400" marR="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L="1371600" marR="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L="1828800" marR="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L="2286000" marR="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sz="140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>
          <p15:clr>
            <a:srgbClr val="F26B43"/>
          </p15:clr>
        </p15:guide>
        <p15:guide id="2" orient="horz" pos="3024">
          <p15:clr>
            <a:srgbClr val="F26B43"/>
          </p15:clr>
        </p15:guide>
        <p15:guide id="3" pos="5274">
          <p15:clr>
            <a:srgbClr val="F26B43"/>
          </p15:clr>
        </p15:guide>
        <p15:guide id="4" pos="2880">
          <p15:clr>
            <a:srgbClr val="F26B43"/>
          </p15:clr>
        </p15:guide>
        <p15:guide id="5" pos="486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1980">
          <p15:clr>
            <a:srgbClr val="F26B43"/>
          </p15:clr>
        </p15:guide>
        <p15:guide id="8" pos="3744">
          <p15:clr>
            <a:srgbClr val="F26B43"/>
          </p15:clr>
        </p15:guide>
        <p15:guide id="9" orient="horz" pos="7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803409">
            <a:off x="7351956" y="2004038"/>
            <a:ext cx="789253" cy="1135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28851" y="735929"/>
            <a:ext cx="1086296" cy="141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719915">
            <a:off x="548274" y="683030"/>
            <a:ext cx="495051" cy="3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481" y="1070455"/>
            <a:ext cx="1118669" cy="98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85585" y="3440791"/>
            <a:ext cx="2126982" cy="165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123932">
            <a:off x="955924" y="2375057"/>
            <a:ext cx="583375" cy="491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561761">
            <a:off x="6947374" y="781897"/>
            <a:ext cx="514350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3838668"/>
            <a:ext cx="2775638" cy="8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33052" y="3666882"/>
            <a:ext cx="806888" cy="9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70825" y="3606607"/>
            <a:ext cx="2945199" cy="12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 descr="presentation_title"/>
          <p:cNvSpPr txBox="1">
            <a:spLocks noGrp="1"/>
          </p:cNvSpPr>
          <p:nvPr>
            <p:ph type="ctrTitle"/>
          </p:nvPr>
        </p:nvSpPr>
        <p:spPr>
          <a:xfrm>
            <a:off x="1993700" y="971525"/>
            <a:ext cx="5332500" cy="239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0"/>
              <a:t>Seaborn Video Game Sales Analysis</a:t>
            </a:r>
            <a:endParaRPr sz="6400" b="0"/>
          </a:p>
        </p:txBody>
      </p:sp>
      <p:sp>
        <p:nvSpPr>
          <p:cNvPr id="122" name="Google Shape;122;p25" descr="date"/>
          <p:cNvSpPr txBox="1"/>
          <p:nvPr/>
        </p:nvSpPr>
        <p:spPr>
          <a:xfrm rot="2313">
            <a:off x="3205873" y="3736986"/>
            <a:ext cx="2675101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November 3, 2025</a:t>
            </a:r>
            <a:endParaRPr sz="2000"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3609467" y="4078415"/>
            <a:ext cx="20031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Kenneth </a:t>
            </a:r>
            <a:r>
              <a:rPr lang="en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Bathelemy</a:t>
            </a:r>
            <a:endParaRPr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OIM 7502 Fall 2025</a:t>
            </a:r>
            <a:endParaRPr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021" y="329319"/>
            <a:ext cx="7670069" cy="453918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6"/>
          <p:cNvSpPr/>
          <p:nvPr/>
        </p:nvSpPr>
        <p:spPr>
          <a:xfrm rot="5400000">
            <a:off x="826428" y="-162484"/>
            <a:ext cx="316200" cy="1969200"/>
          </a:xfrm>
          <a:prstGeom prst="round2SameRect">
            <a:avLst>
              <a:gd name="adj1" fmla="val 47853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24507">
            <a:off x="7978266" y="3709829"/>
            <a:ext cx="923650" cy="868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6" descr="A black background with white line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2729" y="1138658"/>
            <a:ext cx="1406400" cy="500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 descr="title"/>
          <p:cNvSpPr txBox="1">
            <a:spLocks noGrp="1"/>
          </p:cNvSpPr>
          <p:nvPr>
            <p:ph type="subTitle" idx="4294967295"/>
          </p:nvPr>
        </p:nvSpPr>
        <p:spPr>
          <a:xfrm>
            <a:off x="0" y="664175"/>
            <a:ext cx="19404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700">
                <a:latin typeface="Patrick Hand SC"/>
                <a:ea typeface="Patrick Hand SC"/>
                <a:cs typeface="Patrick Hand SC"/>
                <a:sym typeface="Patrick Hand SC"/>
              </a:rPr>
              <a:t>Agenda</a:t>
            </a:r>
            <a:endParaRPr sz="17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33" name="Google Shape;133;p26" descr="agenda_0"/>
          <p:cNvSpPr txBox="1"/>
          <p:nvPr/>
        </p:nvSpPr>
        <p:spPr>
          <a:xfrm>
            <a:off x="2019725" y="1053275"/>
            <a:ext cx="4634400" cy="3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Introduction to Project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Dataset Summary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Why Seaborn for Visualization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Platforms: Volume and Sales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Platforms: Release Trends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Publishers: Top Publishers by Count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Score Insights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Critic and User Score Correlations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Best-Selling Games Analysis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200025" lvl="0" indent="-203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Conclusion and Takeaways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 descr="title"/>
          <p:cNvSpPr txBox="1">
            <a:spLocks noGrp="1"/>
          </p:cNvSpPr>
          <p:nvPr>
            <p:ph type="title"/>
          </p:nvPr>
        </p:nvSpPr>
        <p:spPr>
          <a:xfrm>
            <a:off x="686775" y="751975"/>
            <a:ext cx="7770300" cy="5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0"/>
              <a:t>Introduction</a:t>
            </a:r>
            <a:endParaRPr sz="3200" b="0"/>
          </a:p>
        </p:txBody>
      </p:sp>
      <p:sp>
        <p:nvSpPr>
          <p:cNvPr id="139" name="Google Shape;139;p27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Introduction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41" name="Google Shape;141;p27" descr="detail"/>
          <p:cNvSpPr txBox="1">
            <a:spLocks noGrp="1"/>
          </p:cNvSpPr>
          <p:nvPr>
            <p:ph type="body" idx="1"/>
          </p:nvPr>
        </p:nvSpPr>
        <p:spPr>
          <a:xfrm>
            <a:off x="1831425" y="1595950"/>
            <a:ext cx="5023200" cy="32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Project centers on Kaggle’s Video Game Sales dataset, containing units shipped, platform, publisher, critic and user score data.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Primary goal is to use Seaborn to uncover trends and relationships within the data through clear visualizations.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Focus areas include analysis of platforms, publishers, user and critic scores, and shipment volumes.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Seaborn chosen to create visualizations for data science purposes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700"/>
              </a:spcAft>
              <a:buSzPts val="1500"/>
              <a:buChar char="•"/>
            </a:pPr>
            <a:r>
              <a:rPr lang="en" sz="1500"/>
              <a:t>Some comparison made between Seaborn’s straightforward syntax and Matplotlib’s more detailed customization options.</a:t>
            </a:r>
            <a:endParaRPr sz="1500"/>
          </a:p>
        </p:txBody>
      </p:sp>
      <p:pic>
        <p:nvPicPr>
          <p:cNvPr id="142" name="Google Shape;14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1423814"/>
            <a:ext cx="999583" cy="129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 descr="title"/>
          <p:cNvSpPr txBox="1">
            <a:spLocks noGrp="1"/>
          </p:cNvSpPr>
          <p:nvPr>
            <p:ph type="title"/>
          </p:nvPr>
        </p:nvSpPr>
        <p:spPr>
          <a:xfrm>
            <a:off x="686775" y="751975"/>
            <a:ext cx="7770300" cy="5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0"/>
              <a:t>Dataset Summary</a:t>
            </a:r>
            <a:endParaRPr sz="3200" b="0"/>
          </a:p>
        </p:txBody>
      </p:sp>
      <p:sp>
        <p:nvSpPr>
          <p:cNvPr id="154" name="Google Shape;154;p28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Dataset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56" name="Google Shape;156;p28" descr="header_0"/>
          <p:cNvSpPr txBox="1">
            <a:spLocks noGrp="1"/>
          </p:cNvSpPr>
          <p:nvPr>
            <p:ph type="subTitle" idx="4294967295"/>
          </p:nvPr>
        </p:nvSpPr>
        <p:spPr>
          <a:xfrm>
            <a:off x="771525" y="1497900"/>
            <a:ext cx="3571800" cy="3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Dataset Overview and Key Variables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57" name="Google Shape;157;p28" descr="detail_0"/>
          <p:cNvSpPr txBox="1">
            <a:spLocks noGrp="1"/>
          </p:cNvSpPr>
          <p:nvPr>
            <p:ph type="body" idx="1"/>
          </p:nvPr>
        </p:nvSpPr>
        <p:spPr>
          <a:xfrm>
            <a:off x="771525" y="2106125"/>
            <a:ext cx="3571800" cy="25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Approximately 19,000 records total in the dataset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Around 10,000 rows with Critic Scores available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Around 2,000 entries have valid user and critic scores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Key variables include Title, Platform, Publisher, Developed, Critic/User Score, Total_Shipped, Year</a:t>
            </a:r>
            <a:endParaRPr sz="1300"/>
          </a:p>
          <a:p>
            <a:pPr marL="0" lvl="0" indent="0" algn="l" rtl="0">
              <a:spcBef>
                <a:spcPts val="900"/>
              </a:spcBef>
              <a:spcAft>
                <a:spcPts val="800"/>
              </a:spcAft>
              <a:buNone/>
            </a:pPr>
            <a:endParaRPr sz="1300"/>
          </a:p>
        </p:txBody>
      </p:sp>
      <p:sp>
        <p:nvSpPr>
          <p:cNvPr id="158" name="Google Shape;158;p28" descr="header_1"/>
          <p:cNvSpPr txBox="1">
            <a:spLocks noGrp="1"/>
          </p:cNvSpPr>
          <p:nvPr>
            <p:ph type="subTitle" idx="4294967295"/>
          </p:nvPr>
        </p:nvSpPr>
        <p:spPr>
          <a:xfrm>
            <a:off x="4657800" y="1498025"/>
            <a:ext cx="3571800" cy="3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Data Cleaning and Limitations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59" name="Google Shape;159;p28" descr="detail_1"/>
          <p:cNvSpPr txBox="1">
            <a:spLocks noGrp="1"/>
          </p:cNvSpPr>
          <p:nvPr>
            <p:ph type="body" idx="1"/>
          </p:nvPr>
        </p:nvSpPr>
        <p:spPr>
          <a:xfrm>
            <a:off x="4657800" y="2106125"/>
            <a:ext cx="3571800" cy="25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225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Removed missing values to ensure meaningful visualizations with User and Critic Scores</a:t>
            </a:r>
            <a:endParaRPr sz="1300"/>
          </a:p>
          <a:p>
            <a:pPr marL="342900" marR="0" lvl="0" indent="-2254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Total_Shipped mainly reflects physical shipments</a:t>
            </a:r>
            <a:endParaRPr sz="1300"/>
          </a:p>
          <a:p>
            <a:pPr marL="342900" marR="0" lvl="0" indent="-2254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Missing digital sales data limits full sales analysis</a:t>
            </a:r>
            <a:endParaRPr sz="1300"/>
          </a:p>
          <a:p>
            <a:pPr marL="342900" marR="0" lvl="0" indent="-2254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Data cleaning focused on reliability and clarity of visuals</a:t>
            </a:r>
            <a:endParaRPr sz="1300"/>
          </a:p>
          <a:p>
            <a:pPr marL="342900" marR="0" lvl="0" indent="-225425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300"/>
              <a:buChar char="•"/>
            </a:pPr>
            <a:r>
              <a:rPr lang="en" sz="1300"/>
              <a:t>Data available from 1977 to 2020</a:t>
            </a:r>
            <a:endParaRPr sz="1300"/>
          </a:p>
        </p:txBody>
      </p:sp>
      <p:pic>
        <p:nvPicPr>
          <p:cNvPr id="160" name="Google Shape;16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554242" y="1936396"/>
            <a:ext cx="878471" cy="114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9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Seaborn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73" name="Google Shape;173;p29" descr="header_0"/>
          <p:cNvSpPr txBox="1">
            <a:spLocks noGrp="1"/>
          </p:cNvSpPr>
          <p:nvPr>
            <p:ph type="subTitle" idx="4294967295"/>
          </p:nvPr>
        </p:nvSpPr>
        <p:spPr>
          <a:xfrm>
            <a:off x="4443125" y="342900"/>
            <a:ext cx="4014300" cy="3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Seaborn Advantages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74" name="Google Shape;174;p29" descr="detail_0"/>
          <p:cNvSpPr txBox="1">
            <a:spLocks noGrp="1"/>
          </p:cNvSpPr>
          <p:nvPr>
            <p:ph type="body" idx="1"/>
          </p:nvPr>
        </p:nvSpPr>
        <p:spPr>
          <a:xfrm>
            <a:off x="4114225" y="677388"/>
            <a:ext cx="4674624" cy="16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Library intended for data visualization allowing for comparisons between several data variables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Handles multi-category visualizations like stacked distributions 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Common plot types: </a:t>
            </a:r>
            <a:r>
              <a:rPr lang="en" sz="1300" dirty="0" err="1"/>
              <a:t>countplot</a:t>
            </a:r>
            <a:r>
              <a:rPr lang="en" sz="1300" dirty="0"/>
              <a:t>, </a:t>
            </a:r>
            <a:r>
              <a:rPr lang="en" sz="1300" dirty="0" err="1"/>
              <a:t>barplot</a:t>
            </a:r>
            <a:r>
              <a:rPr lang="en" sz="1300" dirty="0"/>
              <a:t>, </a:t>
            </a:r>
            <a:r>
              <a:rPr lang="en" sz="1300" dirty="0" err="1"/>
              <a:t>displot</a:t>
            </a:r>
            <a:r>
              <a:rPr lang="en" sz="1300" dirty="0"/>
              <a:t>, </a:t>
            </a:r>
            <a:r>
              <a:rPr lang="en" sz="1300" dirty="0" err="1"/>
              <a:t>histplot</a:t>
            </a:r>
            <a:r>
              <a:rPr lang="en" sz="1300" dirty="0"/>
              <a:t>, scatterplot, heatmap.</a:t>
            </a:r>
            <a:endParaRPr sz="1300" dirty="0"/>
          </a:p>
        </p:txBody>
      </p:sp>
      <p:sp>
        <p:nvSpPr>
          <p:cNvPr id="175" name="Google Shape;175;p29" descr="header_1"/>
          <p:cNvSpPr txBox="1">
            <a:spLocks noGrp="1"/>
          </p:cNvSpPr>
          <p:nvPr>
            <p:ph type="subTitle" idx="4294967295"/>
          </p:nvPr>
        </p:nvSpPr>
        <p:spPr>
          <a:xfrm>
            <a:off x="4443119" y="2667250"/>
            <a:ext cx="4014300" cy="3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Seaborn and Matplotlib Integration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76" name="Google Shape;176;p29" descr="detail_1"/>
          <p:cNvSpPr txBox="1">
            <a:spLocks noGrp="1"/>
          </p:cNvSpPr>
          <p:nvPr>
            <p:ph type="body" idx="1"/>
          </p:nvPr>
        </p:nvSpPr>
        <p:spPr>
          <a:xfrm>
            <a:off x="4114224" y="3001750"/>
            <a:ext cx="4674625" cy="16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Built on Matplotlib, allowing advanced fine-tuning of plots</a:t>
            </a:r>
            <a:endParaRPr sz="1300" dirty="0"/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Matplotlib used primarily for customizing legends and annotations</a:t>
            </a:r>
            <a:endParaRPr sz="1300" dirty="0"/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Combines Seaborn's ease with Matplotlib's flexibility</a:t>
            </a:r>
            <a:endParaRPr sz="1300" dirty="0"/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 dirty="0"/>
              <a:t>Ideal for quick exploration and detailed presentation-ready visuals</a:t>
            </a:r>
            <a:endParaRPr sz="1300" dirty="0"/>
          </a:p>
        </p:txBody>
      </p:sp>
      <p:sp>
        <p:nvSpPr>
          <p:cNvPr id="177" name="Google Shape;177;p29" descr="title"/>
          <p:cNvSpPr txBox="1">
            <a:spLocks noGrp="1"/>
          </p:cNvSpPr>
          <p:nvPr>
            <p:ph type="title"/>
          </p:nvPr>
        </p:nvSpPr>
        <p:spPr>
          <a:xfrm>
            <a:off x="686775" y="1837975"/>
            <a:ext cx="2592600" cy="17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00" b="0"/>
              <a:t>Why Seaborn?</a:t>
            </a:r>
            <a:endParaRPr sz="3400" b="0"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163" y="265485"/>
            <a:ext cx="422375" cy="48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176" y="2589835"/>
            <a:ext cx="422375" cy="48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038" y="395850"/>
            <a:ext cx="228600" cy="228600"/>
          </a:xfrm>
          <a:prstGeom prst="rect">
            <a:avLst/>
          </a:prstGeom>
          <a:noFill/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" name="Google Shape;18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9050" y="2720200"/>
            <a:ext cx="228600" cy="228600"/>
          </a:xfrm>
          <a:prstGeom prst="rect">
            <a:avLst/>
          </a:prstGeom>
          <a:noFill/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2" name="Google Shape;182;p29"/>
          <p:cNvGrpSpPr/>
          <p:nvPr/>
        </p:nvGrpSpPr>
        <p:grpSpPr>
          <a:xfrm>
            <a:off x="6833600" y="-1399325"/>
            <a:ext cx="2145825" cy="1093905"/>
            <a:chOff x="6834550" y="-6725"/>
            <a:chExt cx="2145825" cy="1823782"/>
          </a:xfrm>
        </p:grpSpPr>
        <p:grpSp>
          <p:nvGrpSpPr>
            <p:cNvPr id="183" name="Google Shape;183;p29"/>
            <p:cNvGrpSpPr/>
            <p:nvPr/>
          </p:nvGrpSpPr>
          <p:grpSpPr>
            <a:xfrm>
              <a:off x="6834550" y="-6725"/>
              <a:ext cx="2057400" cy="1033200"/>
              <a:chOff x="6083775" y="-1402850"/>
              <a:chExt cx="2057400" cy="1033200"/>
            </a:xfrm>
          </p:grpSpPr>
          <p:sp>
            <p:nvSpPr>
              <p:cNvPr id="184" name="Google Shape;184;p29"/>
              <p:cNvSpPr/>
              <p:nvPr/>
            </p:nvSpPr>
            <p:spPr>
              <a:xfrm>
                <a:off x="6083775" y="-1402850"/>
                <a:ext cx="2057400" cy="1033200"/>
              </a:xfrm>
              <a:prstGeom prst="roundRect">
                <a:avLst>
                  <a:gd name="adj" fmla="val 8292"/>
                </a:avLst>
              </a:prstGeom>
              <a:solidFill>
                <a:srgbClr val="FFFEA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8" dist="57150" dir="2760000" algn="bl" rotWithShape="0">
                  <a:srgbClr val="000000">
                    <a:alpha val="19000"/>
                  </a:srgbClr>
                </a:outerShdw>
              </a:effectLst>
            </p:spPr>
            <p:txBody>
              <a:bodyPr spcFirstLastPara="1" wrap="square" lIns="0" tIns="457200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29"/>
              <p:cNvSpPr txBox="1"/>
              <p:nvPr/>
            </p:nvSpPr>
            <p:spPr>
              <a:xfrm>
                <a:off x="6467625" y="-1402850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91425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sz="900" b="1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86" name="Google Shape;186;p29" descr="plus_tip"/>
            <p:cNvSpPr txBox="1"/>
            <p:nvPr/>
          </p:nvSpPr>
          <p:spPr>
            <a:xfrm>
              <a:off x="6922975" y="289500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Highlight specific examples of Seaborn plots your audience would find useful for their data analysis projects.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7" name="Google Shape;18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 descr="title"/>
          <p:cNvSpPr txBox="1">
            <a:spLocks noGrp="1"/>
          </p:cNvSpPr>
          <p:nvPr>
            <p:ph type="title"/>
          </p:nvPr>
        </p:nvSpPr>
        <p:spPr>
          <a:xfrm>
            <a:off x="2835725" y="360500"/>
            <a:ext cx="2810400" cy="5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0"/>
              <a:t>Volume &amp; Sales</a:t>
            </a:r>
            <a:endParaRPr sz="3200" b="0"/>
          </a:p>
        </p:txBody>
      </p:sp>
      <p:sp>
        <p:nvSpPr>
          <p:cNvPr id="193" name="Google Shape;193;p30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Platforms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95" name="Google Shape;195;p30" descr="header_0"/>
          <p:cNvSpPr txBox="1">
            <a:spLocks noGrp="1"/>
          </p:cNvSpPr>
          <p:nvPr>
            <p:ph type="subTitle" idx="4294967295"/>
          </p:nvPr>
        </p:nvSpPr>
        <p:spPr>
          <a:xfrm>
            <a:off x="771525" y="940750"/>
            <a:ext cx="3571800" cy="3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Top Platforms by Game Count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96" name="Google Shape;196;p30" descr="detail_0"/>
          <p:cNvSpPr txBox="1">
            <a:spLocks noGrp="1"/>
          </p:cNvSpPr>
          <p:nvPr>
            <p:ph type="body" idx="1"/>
          </p:nvPr>
        </p:nvSpPr>
        <p:spPr>
          <a:xfrm>
            <a:off x="771525" y="1323675"/>
            <a:ext cx="3571800" cy="25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DS and PS2 have the highest number of game titles released.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These platforms dominate the volume metric in the dataset.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80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High title count indicates platform popularity and developer focus.</a:t>
            </a:r>
            <a:endParaRPr sz="1300"/>
          </a:p>
        </p:txBody>
      </p:sp>
      <p:sp>
        <p:nvSpPr>
          <p:cNvPr id="197" name="Google Shape;197;p30" descr="header_1"/>
          <p:cNvSpPr txBox="1">
            <a:spLocks noGrp="1"/>
          </p:cNvSpPr>
          <p:nvPr>
            <p:ph type="subTitle" idx="4294967295"/>
          </p:nvPr>
        </p:nvSpPr>
        <p:spPr>
          <a:xfrm>
            <a:off x="4657800" y="940875"/>
            <a:ext cx="3571800" cy="3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Top Platforms by Total Shipments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98" name="Google Shape;198;p30" descr="detail_1"/>
          <p:cNvSpPr txBox="1">
            <a:spLocks noGrp="1"/>
          </p:cNvSpPr>
          <p:nvPr>
            <p:ph type="body" idx="1"/>
          </p:nvPr>
        </p:nvSpPr>
        <p:spPr>
          <a:xfrm>
            <a:off x="4613575" y="1323675"/>
            <a:ext cx="3571800" cy="25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225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PS2 leads in total game units shipped, followed by PC and Xbox 360.</a:t>
            </a:r>
            <a:endParaRPr sz="1300"/>
          </a:p>
          <a:p>
            <a:pPr marL="342900" marR="0" lvl="0" indent="-2254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Shipment volume reflects commercial success beyond just game quantity.</a:t>
            </a:r>
            <a:endParaRPr sz="1300"/>
          </a:p>
          <a:p>
            <a:pPr marL="342900" marR="0" lvl="0" indent="-225425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Highlights platforms with strong market penetration and sales performance.</a:t>
            </a:r>
            <a:endParaRPr sz="1300"/>
          </a:p>
        </p:txBody>
      </p:sp>
      <p:pic>
        <p:nvPicPr>
          <p:cNvPr id="199" name="Google Shape;19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7098292" y="246471"/>
            <a:ext cx="878471" cy="114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30"/>
          <p:cNvGrpSpPr/>
          <p:nvPr/>
        </p:nvGrpSpPr>
        <p:grpSpPr>
          <a:xfrm>
            <a:off x="6913175" y="-1480100"/>
            <a:ext cx="2057400" cy="1033200"/>
            <a:chOff x="6922975" y="1548525"/>
            <a:chExt cx="2057400" cy="1033200"/>
          </a:xfrm>
        </p:grpSpPr>
        <p:grpSp>
          <p:nvGrpSpPr>
            <p:cNvPr id="201" name="Google Shape;201;p30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202" name="Google Shape;202;p30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name="adj" fmla="val 8292"/>
                </a:avLst>
              </a:prstGeom>
              <a:solidFill>
                <a:srgbClr val="FFFEA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8" dist="57150" dir="2760000" algn="bl" rotWithShape="0">
                  <a:srgbClr val="000000">
                    <a:alpha val="19000"/>
                  </a:srgbClr>
                </a:outerShdw>
              </a:effectLst>
            </p:spPr>
            <p:txBody>
              <a:bodyPr spcFirstLastPara="1" wrap="square" lIns="0" tIns="457200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30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91425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sz="900" b="1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04" name="Google Shape;204;p30" descr="plus_tip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by adding recent platform sales data to show market trends over time.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05" name="Google Shape;20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6" name="Google Shape;206;p30" title="Screenshot 2025-11-02 at 5.10.4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3700" y="3040375"/>
            <a:ext cx="30175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 title="Screenshot 2025-11-02 at 5.12.1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763" y="3040375"/>
            <a:ext cx="30175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7022" y="1229009"/>
            <a:ext cx="4240138" cy="363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7382535" y="338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Platforms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16" name="Google Shape;216;p31" descr="header"/>
          <p:cNvSpPr txBox="1">
            <a:spLocks noGrp="1"/>
          </p:cNvSpPr>
          <p:nvPr>
            <p:ph type="subTitle" idx="4294967295"/>
          </p:nvPr>
        </p:nvSpPr>
        <p:spPr>
          <a:xfrm>
            <a:off x="4456900" y="1465775"/>
            <a:ext cx="33834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latin typeface="Patrick Hand SC"/>
                <a:ea typeface="Patrick Hand SC"/>
                <a:cs typeface="Patrick Hand SC"/>
                <a:sym typeface="Patrick Hand SC"/>
              </a:rPr>
              <a:t>Platform Release Trends</a:t>
            </a:r>
            <a:endParaRPr sz="20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17" name="Google Shape;217;p31" descr="detail"/>
          <p:cNvSpPr txBox="1">
            <a:spLocks noGrp="1"/>
          </p:cNvSpPr>
          <p:nvPr>
            <p:ph type="body" idx="1"/>
          </p:nvPr>
        </p:nvSpPr>
        <p:spPr>
          <a:xfrm>
            <a:off x="4456900" y="2037300"/>
            <a:ext cx="3800400" cy="26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3177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Initial plot including all platforms was cluttered and hard to interpret</a:t>
            </a:r>
            <a:endParaRPr/>
          </a:p>
          <a:p>
            <a:pPr marL="342900" lvl="0" indent="-23177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Filtered dataset to only the Top 10 platforms for clearer focus and better readability</a:t>
            </a:r>
            <a:endParaRPr/>
          </a:p>
          <a:p>
            <a:pPr marL="342900" lvl="0" indent="-23177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Utilized Seaborn’s displot function, which provides automatic layering and smooth density estimation</a:t>
            </a:r>
            <a:endParaRPr/>
          </a:p>
          <a:p>
            <a:pPr marL="342900" lvl="0" indent="-231775" algn="l" rtl="0">
              <a:spcBef>
                <a:spcPts val="900"/>
              </a:spcBef>
              <a:spcAft>
                <a:spcPts val="80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Applied the 'tab10' color palette ensuring consistent, color-coded mapping in the legend for easy platform identification</a:t>
            </a:r>
            <a:endParaRPr/>
          </a:p>
        </p:txBody>
      </p:sp>
      <p:sp>
        <p:nvSpPr>
          <p:cNvPr id="218" name="Google Shape;218;p31" descr="title"/>
          <p:cNvSpPr txBox="1">
            <a:spLocks noGrp="1"/>
          </p:cNvSpPr>
          <p:nvPr>
            <p:ph type="title"/>
          </p:nvPr>
        </p:nvSpPr>
        <p:spPr>
          <a:xfrm>
            <a:off x="2602925" y="190925"/>
            <a:ext cx="2654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00" b="0"/>
              <a:t>Release Trends</a:t>
            </a:r>
            <a:endParaRPr sz="3400" b="0"/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640871">
            <a:off x="219247" y="4414393"/>
            <a:ext cx="613056" cy="4260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31"/>
          <p:cNvGrpSpPr/>
          <p:nvPr/>
        </p:nvGrpSpPr>
        <p:grpSpPr>
          <a:xfrm>
            <a:off x="7086600" y="-1285550"/>
            <a:ext cx="2057400" cy="1033200"/>
            <a:chOff x="6922975" y="1548525"/>
            <a:chExt cx="2057400" cy="1033200"/>
          </a:xfrm>
        </p:grpSpPr>
        <p:grpSp>
          <p:nvGrpSpPr>
            <p:cNvPr id="221" name="Google Shape;221;p31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222" name="Google Shape;222;p31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name="adj" fmla="val 8292"/>
                </a:avLst>
              </a:prstGeom>
              <a:solidFill>
                <a:srgbClr val="FFFEA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8" dist="57150" dir="2760000" algn="bl" rotWithShape="0">
                  <a:srgbClr val="000000">
                    <a:alpha val="19000"/>
                  </a:srgbClr>
                </a:outerShdw>
              </a:effectLst>
            </p:spPr>
            <p:txBody>
              <a:bodyPr spcFirstLastPara="1" wrap="square" lIns="0" tIns="457200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31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91425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sz="900" b="1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24" name="Google Shape;224;p31" descr="plus_tip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this slide by including specific platform names or trends relevant to your audience for greater impact.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25" name="Google Shape;225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6" name="Google Shape;226;p31" title="Screenshot 2025-11-02 at 5.07.0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78" y="1271300"/>
            <a:ext cx="3918171" cy="29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" y="1142995"/>
            <a:ext cx="42257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2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Publishers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34" name="Google Shape;234;p32" descr="header_0"/>
          <p:cNvSpPr txBox="1">
            <a:spLocks noGrp="1"/>
          </p:cNvSpPr>
          <p:nvPr>
            <p:ph type="subTitle" idx="4294967295"/>
          </p:nvPr>
        </p:nvSpPr>
        <p:spPr>
          <a:xfrm>
            <a:off x="125" y="1120800"/>
            <a:ext cx="3734700" cy="3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Top Publishers by Count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35" name="Google Shape;235;p32" descr="detail_0"/>
          <p:cNvSpPr txBox="1">
            <a:spLocks noGrp="1"/>
          </p:cNvSpPr>
          <p:nvPr>
            <p:ph type="body" idx="1"/>
          </p:nvPr>
        </p:nvSpPr>
        <p:spPr>
          <a:xfrm>
            <a:off x="71675" y="1868500"/>
            <a:ext cx="4343100" cy="20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Activision, EA, and Ubisoft are the most prolific publishers by game count.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These publishers dominate release volume across multiple gaming platforms.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High output reflects strong market presence and production capacity.</a:t>
            </a:r>
            <a:endParaRPr sz="1300"/>
          </a:p>
          <a:p>
            <a:pPr marL="342900" lvl="0" indent="-225425" algn="l" rtl="0">
              <a:spcBef>
                <a:spcPts val="900"/>
              </a:spcBef>
              <a:spcAft>
                <a:spcPts val="80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Barplots effectively highlight differences in publisher activity.</a:t>
            </a:r>
            <a:endParaRPr sz="1300"/>
          </a:p>
        </p:txBody>
      </p:sp>
      <p:grpSp>
        <p:nvGrpSpPr>
          <p:cNvPr id="236" name="Google Shape;236;p32"/>
          <p:cNvGrpSpPr/>
          <p:nvPr/>
        </p:nvGrpSpPr>
        <p:grpSpPr>
          <a:xfrm>
            <a:off x="155975" y="5352225"/>
            <a:ext cx="2057400" cy="1033200"/>
            <a:chOff x="6922975" y="1548525"/>
            <a:chExt cx="2057400" cy="1033200"/>
          </a:xfrm>
        </p:grpSpPr>
        <p:grpSp>
          <p:nvGrpSpPr>
            <p:cNvPr id="237" name="Google Shape;237;p32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238" name="Google Shape;238;p32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name="adj" fmla="val 8292"/>
                </a:avLst>
              </a:prstGeom>
              <a:solidFill>
                <a:srgbClr val="FFFEA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8" dist="57150" dir="2760000" algn="bl" rotWithShape="0">
                  <a:srgbClr val="000000">
                    <a:alpha val="19000"/>
                  </a:srgbClr>
                </a:outerShdw>
              </a:effectLst>
            </p:spPr>
            <p:txBody>
              <a:bodyPr spcFirstLastPara="1" wrap="square" lIns="0" tIns="457200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32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91425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sz="900" b="1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0" name="Google Shape;240;p32" descr="plus_tip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by adding recent publisher data or regional performance insights to increase relevance.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41" name="Google Shape;24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32" title="Screenshot 2025-11-02 at 5.29.25 PM.png"/>
          <p:cNvPicPr preferRelativeResize="0"/>
          <p:nvPr/>
        </p:nvPicPr>
        <p:blipFill rotWithShape="1">
          <a:blip r:embed="rId5">
            <a:alphaModFix/>
          </a:blip>
          <a:srcRect l="4752"/>
          <a:stretch/>
        </p:blipFill>
        <p:spPr>
          <a:xfrm>
            <a:off x="4443750" y="1120800"/>
            <a:ext cx="4659349" cy="34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33" y="99138"/>
            <a:ext cx="679301" cy="63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 descr="title"/>
          <p:cNvSpPr txBox="1">
            <a:spLocks noGrp="1"/>
          </p:cNvSpPr>
          <p:nvPr>
            <p:ph type="title"/>
          </p:nvPr>
        </p:nvSpPr>
        <p:spPr>
          <a:xfrm>
            <a:off x="2799450" y="229125"/>
            <a:ext cx="2715900" cy="5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0"/>
              <a:t>Score Insights</a:t>
            </a:r>
            <a:endParaRPr sz="3200" b="0"/>
          </a:p>
        </p:txBody>
      </p:sp>
      <p:sp>
        <p:nvSpPr>
          <p:cNvPr id="249" name="Google Shape;249;p33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3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Analysis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51" name="Google Shape;251;p33" descr="header_0"/>
          <p:cNvSpPr txBox="1">
            <a:spLocks noGrp="1"/>
          </p:cNvSpPr>
          <p:nvPr>
            <p:ph type="subTitle" idx="4294967295"/>
          </p:nvPr>
        </p:nvSpPr>
        <p:spPr>
          <a:xfrm>
            <a:off x="719150" y="2877800"/>
            <a:ext cx="2477400" cy="533400"/>
          </a:xfrm>
          <a:prstGeom prst="rect">
            <a:avLst/>
          </a:prstGeom>
          <a:noFill/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Critic Score Distribution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52" name="Google Shape;252;p33" descr="header_1"/>
          <p:cNvSpPr txBox="1">
            <a:spLocks noGrp="1"/>
          </p:cNvSpPr>
          <p:nvPr>
            <p:ph type="subTitle" idx="4294967295"/>
          </p:nvPr>
        </p:nvSpPr>
        <p:spPr>
          <a:xfrm>
            <a:off x="3326050" y="2877800"/>
            <a:ext cx="2477400" cy="533400"/>
          </a:xfrm>
          <a:prstGeom prst="rect">
            <a:avLst/>
          </a:prstGeom>
          <a:noFill/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User Score Variability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53" name="Google Shape;253;p33" descr="detail_0"/>
          <p:cNvSpPr txBox="1">
            <a:spLocks noGrp="1"/>
          </p:cNvSpPr>
          <p:nvPr>
            <p:ph type="body" idx="1"/>
          </p:nvPr>
        </p:nvSpPr>
        <p:spPr>
          <a:xfrm>
            <a:off x="719150" y="3411200"/>
            <a:ext cx="2477400" cy="1389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 sz="1200"/>
              <a:t>Critic scores form a bell-shaped curve centered near 8, indicating consistent critical reception.</a:t>
            </a:r>
            <a:endParaRPr sz="1200"/>
          </a:p>
        </p:txBody>
      </p:sp>
      <p:sp>
        <p:nvSpPr>
          <p:cNvPr id="254" name="Google Shape;254;p33" descr="detail_1"/>
          <p:cNvSpPr txBox="1">
            <a:spLocks noGrp="1"/>
          </p:cNvSpPr>
          <p:nvPr>
            <p:ph type="body" idx="1"/>
          </p:nvPr>
        </p:nvSpPr>
        <p:spPr>
          <a:xfrm>
            <a:off x="3326050" y="3411200"/>
            <a:ext cx="2477400" cy="1389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 sz="1200"/>
              <a:t>User scores show greater variability and a lower average than critics, reflecting diverse player opinions.</a:t>
            </a:r>
            <a:endParaRPr sz="1200"/>
          </a:p>
        </p:txBody>
      </p:sp>
      <p:sp>
        <p:nvSpPr>
          <p:cNvPr id="255" name="Google Shape;255;p33" descr="header_2"/>
          <p:cNvSpPr txBox="1">
            <a:spLocks noGrp="1"/>
          </p:cNvSpPr>
          <p:nvPr>
            <p:ph type="subTitle" idx="4294967295"/>
          </p:nvPr>
        </p:nvSpPr>
        <p:spPr>
          <a:xfrm>
            <a:off x="5979750" y="2877800"/>
            <a:ext cx="2477400" cy="533400"/>
          </a:xfrm>
          <a:prstGeom prst="rect">
            <a:avLst/>
          </a:prstGeom>
          <a:noFill/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Boxplot by Platform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56" name="Google Shape;256;p33" descr="detail_2"/>
          <p:cNvSpPr txBox="1">
            <a:spLocks noGrp="1"/>
          </p:cNvSpPr>
          <p:nvPr>
            <p:ph type="body" idx="1"/>
          </p:nvPr>
        </p:nvSpPr>
        <p:spPr>
          <a:xfrm>
            <a:off x="5979750" y="3411200"/>
            <a:ext cx="2477400" cy="1389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 sz="1200"/>
              <a:t>Boxplots display median, interquartile range, whiskers, and outliers; PC platform shows the widest score range.</a:t>
            </a:r>
            <a:endParaRPr sz="1200"/>
          </a:p>
        </p:txBody>
      </p:sp>
      <p:pic>
        <p:nvPicPr>
          <p:cNvPr id="263" name="Google Shape;263;p33" title="Screenshot 2025-11-02 at 5.31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50" y="1335124"/>
            <a:ext cx="2468880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 title="Screenshot 2025-11-02 at 5.32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4951" y="1323311"/>
            <a:ext cx="2468879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3" title="Screenshot 2025-11-02 at 5.34.3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4012" y="1335124"/>
            <a:ext cx="2468880" cy="15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4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Analysis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72" name="Google Shape;272;p34" descr="header_0"/>
          <p:cNvSpPr txBox="1">
            <a:spLocks noGrp="1"/>
          </p:cNvSpPr>
          <p:nvPr>
            <p:ph type="subTitle" idx="4294967295"/>
          </p:nvPr>
        </p:nvSpPr>
        <p:spPr>
          <a:xfrm>
            <a:off x="2602925" y="360500"/>
            <a:ext cx="5423700" cy="617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800">
                <a:latin typeface="Patrick Hand SC"/>
                <a:ea typeface="Patrick Hand SC"/>
                <a:cs typeface="Patrick Hand SC"/>
                <a:sym typeface="Patrick Hand SC"/>
              </a:rPr>
              <a:t>Critic and User Score Correlations</a:t>
            </a:r>
            <a:endParaRPr sz="28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73" name="Google Shape;273;p34" descr="detail_0"/>
          <p:cNvSpPr txBox="1">
            <a:spLocks noGrp="1"/>
          </p:cNvSpPr>
          <p:nvPr>
            <p:ph type="body" idx="1"/>
          </p:nvPr>
        </p:nvSpPr>
        <p:spPr>
          <a:xfrm>
            <a:off x="5041502" y="1263900"/>
            <a:ext cx="3330900" cy="1587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/>
              <a:t>Critic scores have a weak positive relationship with total shipments, while user scores show an even weaker correlation, indicating ratings are not strong predictors of sales.</a:t>
            </a:r>
            <a:endParaRPr/>
          </a:p>
        </p:txBody>
      </p:sp>
      <p:sp>
        <p:nvSpPr>
          <p:cNvPr id="274" name="Google Shape;274;p34" descr="header_1"/>
          <p:cNvSpPr txBox="1">
            <a:spLocks noGrp="1"/>
          </p:cNvSpPr>
          <p:nvPr>
            <p:ph type="subTitle" idx="4294967295"/>
          </p:nvPr>
        </p:nvSpPr>
        <p:spPr>
          <a:xfrm>
            <a:off x="5133375" y="3008525"/>
            <a:ext cx="2787000" cy="342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Correlation Heatmap Insights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75" name="Google Shape;275;p34" descr="detail_1"/>
          <p:cNvSpPr txBox="1">
            <a:spLocks noGrp="1"/>
          </p:cNvSpPr>
          <p:nvPr>
            <p:ph type="body" idx="1"/>
          </p:nvPr>
        </p:nvSpPr>
        <p:spPr>
          <a:xfrm>
            <a:off x="5104275" y="3371825"/>
            <a:ext cx="3330900" cy="10767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/>
              <a:t>A correlation heatmap visually confirms the low correlation between critic/user scores and shipments, demonstrating Seaborn's strength in revealing data relationships.</a:t>
            </a:r>
            <a:endParaRPr/>
          </a:p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7628" y="4422111"/>
            <a:ext cx="730974" cy="2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1463" y="2292019"/>
            <a:ext cx="730974" cy="2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870129"/>
            <a:ext cx="2210801" cy="17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188765">
            <a:off x="8155123" y="272589"/>
            <a:ext cx="480317" cy="2631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34"/>
          <p:cNvGrpSpPr/>
          <p:nvPr/>
        </p:nvGrpSpPr>
        <p:grpSpPr>
          <a:xfrm>
            <a:off x="6771975" y="4969425"/>
            <a:ext cx="2057400" cy="1033200"/>
            <a:chOff x="6922975" y="1548525"/>
            <a:chExt cx="2057400" cy="1033200"/>
          </a:xfrm>
        </p:grpSpPr>
        <p:grpSp>
          <p:nvGrpSpPr>
            <p:cNvPr id="281" name="Google Shape;281;p34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282" name="Google Shape;282;p34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name="adj" fmla="val 8292"/>
                </a:avLst>
              </a:prstGeom>
              <a:solidFill>
                <a:srgbClr val="FFFEA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8" dist="57150" dir="2760000" algn="bl" rotWithShape="0">
                  <a:srgbClr val="000000">
                    <a:alpha val="19000"/>
                  </a:srgbClr>
                </a:outerShdw>
              </a:effectLst>
            </p:spPr>
            <p:txBody>
              <a:bodyPr spcFirstLastPara="1" wrap="square" lIns="0" tIns="457200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34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91425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sz="900" b="1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84" name="Google Shape;284;p34" descr="plus_tip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the scatterplots by adding trend lines or highlighting specific game genres to make the correlations more engaging for your audience.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85" name="Google Shape;285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34" title="Screenshot 2025-11-02 at 5.37.52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850" y="1152202"/>
            <a:ext cx="3641905" cy="3796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8100162" flipH="1">
            <a:off x="-172476" y="1783988"/>
            <a:ext cx="1029154" cy="74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848302" flipH="1">
            <a:off x="5057414" y="294240"/>
            <a:ext cx="459018" cy="25148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Sales Insights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95" name="Google Shape;295;p35" descr="title"/>
          <p:cNvSpPr txBox="1">
            <a:spLocks noGrp="1"/>
          </p:cNvSpPr>
          <p:nvPr>
            <p:ph type="title"/>
          </p:nvPr>
        </p:nvSpPr>
        <p:spPr>
          <a:xfrm>
            <a:off x="2435075" y="230175"/>
            <a:ext cx="3056100" cy="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0"/>
              <a:t>Best-Selling Games</a:t>
            </a:r>
            <a:endParaRPr sz="3000" b="0"/>
          </a:p>
        </p:txBody>
      </p:sp>
      <p:sp>
        <p:nvSpPr>
          <p:cNvPr id="296" name="Google Shape;296;p35" descr="detail"/>
          <p:cNvSpPr txBox="1">
            <a:spLocks noGrp="1"/>
          </p:cNvSpPr>
          <p:nvPr>
            <p:ph type="body" idx="1"/>
          </p:nvPr>
        </p:nvSpPr>
        <p:spPr>
          <a:xfrm>
            <a:off x="4153450" y="916200"/>
            <a:ext cx="4570200" cy="32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0050" lvl="0" indent="-2603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Wii Sports, Super Mario Bros., and CS:GO lead the charts in total units shipped worldwide.</a:t>
            </a:r>
            <a:endParaRPr/>
          </a:p>
          <a:p>
            <a:pPr marL="400050" lvl="0" indent="-2603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User Score averages are annotated directly on the bars using Matplotlib text overlays for clarity.</a:t>
            </a:r>
            <a:endParaRPr/>
          </a:p>
          <a:p>
            <a:pPr marL="400050" lvl="0" indent="-2603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This reveals that the best-selling games are not necessarily the highest-rated by users.</a:t>
            </a:r>
            <a:endParaRPr/>
          </a:p>
          <a:p>
            <a:pPr marL="400050" lvl="0" indent="-260350" algn="l" rtl="0">
              <a:lnSpc>
                <a:spcPct val="100000"/>
              </a:lnSpc>
              <a:spcBef>
                <a:spcPts val="900"/>
              </a:spcBef>
              <a:spcAft>
                <a:spcPts val="700"/>
              </a:spcAft>
              <a:buSzPts val="1400"/>
              <a:buChar char="•"/>
            </a:pPr>
            <a:r>
              <a:rPr lang="en"/>
              <a:t>The visualization demonstrates effective integration of Seaborn for plotting and Matplotlib for enhanced labeling and annotation.</a:t>
            </a:r>
            <a:endParaRPr/>
          </a:p>
        </p:txBody>
      </p:sp>
      <p:pic>
        <p:nvPicPr>
          <p:cNvPr id="303" name="Google Shape;303;p35" title="Screenshot 2025-11-02 at 5.39.0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25" y="2620025"/>
            <a:ext cx="3807824" cy="245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 title="Screenshot 2025-11-03 at 11.21.0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0775" y="940350"/>
            <a:ext cx="3200100" cy="15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 descr="title"/>
          <p:cNvSpPr txBox="1">
            <a:spLocks noGrp="1"/>
          </p:cNvSpPr>
          <p:nvPr>
            <p:ph type="title"/>
          </p:nvPr>
        </p:nvSpPr>
        <p:spPr>
          <a:xfrm>
            <a:off x="686775" y="751975"/>
            <a:ext cx="7770300" cy="5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0"/>
              <a:t>Conclusion</a:t>
            </a:r>
            <a:endParaRPr sz="3200" b="0"/>
          </a:p>
        </p:txBody>
      </p:sp>
      <p:sp>
        <p:nvSpPr>
          <p:cNvPr id="310" name="Google Shape;310;p36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F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6" descr="chapter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Conclusion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312" name="Google Shape;312;p36" descr="detail"/>
          <p:cNvSpPr txBox="1">
            <a:spLocks noGrp="1"/>
          </p:cNvSpPr>
          <p:nvPr>
            <p:ph type="body" idx="1"/>
          </p:nvPr>
        </p:nvSpPr>
        <p:spPr>
          <a:xfrm>
            <a:off x="1831425" y="1595950"/>
            <a:ext cx="5023200" cy="32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Seaborn offers a cleaner, faster workflow ideal for exploratory data analysis.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Matplotlib is helpful for fine-tuning visual elements like titles, legends, and annotations.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Visual storytelling is clearer and more consistent when combining Seaborn and Matplotlib.</a:t>
            </a:r>
            <a:endParaRPr sz="1500"/>
          </a:p>
          <a:p>
            <a:pPr marL="400050" lvl="0" indent="-266700" algn="l" rtl="0">
              <a:lnSpc>
                <a:spcPct val="100000"/>
              </a:lnSpc>
              <a:spcBef>
                <a:spcPts val="900"/>
              </a:spcBef>
              <a:spcAft>
                <a:spcPts val="700"/>
              </a:spcAft>
              <a:buSzPts val="1500"/>
              <a:buChar char="•"/>
            </a:pPr>
            <a:r>
              <a:rPr lang="en" sz="1500"/>
              <a:t>Seaborn is optimal for analytics and data science requiring strong visual clarity and efficiency.</a:t>
            </a:r>
            <a:endParaRPr sz="1500"/>
          </a:p>
        </p:txBody>
      </p:sp>
      <p:pic>
        <p:nvPicPr>
          <p:cNvPr id="313" name="Google Shape;31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1423814"/>
            <a:ext cx="999583" cy="129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ketchpad">
  <a:themeElements>
    <a:clrScheme name="Composition">
      <a:dk1>
        <a:srgbClr val="000000"/>
      </a:dk1>
      <a:lt1>
        <a:srgbClr val="FFFFFF"/>
      </a:lt1>
      <a:dk2>
        <a:srgbClr val="EFEFEF"/>
      </a:dk2>
      <a:lt2>
        <a:srgbClr val="999999"/>
      </a:lt2>
      <a:accent1>
        <a:srgbClr val="36FFB1"/>
      </a:accent1>
      <a:accent2>
        <a:srgbClr val="33C97F"/>
      </a:accent2>
      <a:accent3>
        <a:srgbClr val="008F58"/>
      </a:accent3>
      <a:accent4>
        <a:srgbClr val="70FFC8"/>
      </a:accent4>
      <a:accent5>
        <a:srgbClr val="ADFFE0"/>
      </a:accent5>
      <a:accent6>
        <a:srgbClr val="B5B7BA"/>
      </a:accent6>
      <a:hlink>
        <a:srgbClr val="36FFB1"/>
      </a:hlink>
      <a:folHlink>
        <a:srgbClr val="0116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Macintosh PowerPoint</Application>
  <PresentationFormat>On-screen Show (16:9)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Patrick Hand SC</vt:lpstr>
      <vt:lpstr>Hanken Grotesk</vt:lpstr>
      <vt:lpstr>Hanken Grotesk SemiBold</vt:lpstr>
      <vt:lpstr>Patrick Hand</vt:lpstr>
      <vt:lpstr>Inter</vt:lpstr>
      <vt:lpstr>Simple Light</vt:lpstr>
      <vt:lpstr>Sketchpad</vt:lpstr>
      <vt:lpstr>Seaborn Video Game Sales Analysis</vt:lpstr>
      <vt:lpstr>PowerPoint Presentation</vt:lpstr>
      <vt:lpstr>Introduction</vt:lpstr>
      <vt:lpstr>Dataset Summary</vt:lpstr>
      <vt:lpstr>Why Seaborn?</vt:lpstr>
      <vt:lpstr>Volume &amp; Sales</vt:lpstr>
      <vt:lpstr>Release Trends</vt:lpstr>
      <vt:lpstr>PowerPoint Presentation</vt:lpstr>
      <vt:lpstr>Score Insights</vt:lpstr>
      <vt:lpstr>PowerPoint Presentation</vt:lpstr>
      <vt:lpstr>Best-Selling Games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Kenneth Arruda-barthelemy</cp:lastModifiedBy>
  <cp:revision>3</cp:revision>
  <dcterms:modified xsi:type="dcterms:W3CDTF">2025-11-03T16:26:56Z</dcterms:modified>
</cp:coreProperties>
</file>