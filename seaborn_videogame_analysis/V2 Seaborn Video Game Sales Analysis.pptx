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Patrick Hand"/>
      <p:regular r:id="rId22"/>
    </p:embeddedFont>
    <p:embeddedFont>
      <p:font typeface="Hanken Grotesk"/>
      <p:regular r:id="rId23"/>
      <p:bold r:id="rId24"/>
      <p:italic r:id="rId25"/>
      <p:boldItalic r:id="rId26"/>
    </p:embeddedFont>
    <p:embeddedFont>
      <p:font typeface="Hanken Grotesk SemiBold"/>
      <p:regular r:id="rId27"/>
      <p:bold r:id="rId28"/>
      <p:italic r:id="rId29"/>
      <p:boldItalic r:id="rId30"/>
    </p:embeddedFont>
    <p:embeddedFont>
      <p:font typeface="Inter"/>
      <p:regular r:id="rId31"/>
      <p:bold r:id="rId32"/>
      <p:italic r:id="rId33"/>
      <p:boldItalic r:id="rId34"/>
    </p:embeddedFont>
    <p:embeddedFont>
      <p:font typeface="Patrick Hand SC"/>
      <p:regular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PatrickHand-regular.fntdata"/><Relationship Id="rId21" Type="http://schemas.openxmlformats.org/officeDocument/2006/relationships/slide" Target="slides/slide15.xml"/><Relationship Id="rId24" Type="http://schemas.openxmlformats.org/officeDocument/2006/relationships/font" Target="fonts/HankenGrotesk-bold.fntdata"/><Relationship Id="rId23" Type="http://schemas.openxmlformats.org/officeDocument/2006/relationships/font" Target="fonts/HankenGrotesk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HankenGrotesk-boldItalic.fntdata"/><Relationship Id="rId25" Type="http://schemas.openxmlformats.org/officeDocument/2006/relationships/font" Target="fonts/HankenGrotesk-italic.fntdata"/><Relationship Id="rId28" Type="http://schemas.openxmlformats.org/officeDocument/2006/relationships/font" Target="fonts/HankenGroteskSemiBold-bold.fntdata"/><Relationship Id="rId27" Type="http://schemas.openxmlformats.org/officeDocument/2006/relationships/font" Target="fonts/HankenGroteskSemiBold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HankenGroteskSemiBold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-regular.fntdata"/><Relationship Id="rId30" Type="http://schemas.openxmlformats.org/officeDocument/2006/relationships/font" Target="fonts/HankenGroteskSemiBold-boldItalic.fntdata"/><Relationship Id="rId11" Type="http://schemas.openxmlformats.org/officeDocument/2006/relationships/slide" Target="slides/slide5.xml"/><Relationship Id="rId33" Type="http://schemas.openxmlformats.org/officeDocument/2006/relationships/font" Target="fonts/Inter-italic.fntdata"/><Relationship Id="rId10" Type="http://schemas.openxmlformats.org/officeDocument/2006/relationships/slide" Target="slides/slide4.xml"/><Relationship Id="rId32" Type="http://schemas.openxmlformats.org/officeDocument/2006/relationships/font" Target="fonts/Inter-bold.fntdata"/><Relationship Id="rId13" Type="http://schemas.openxmlformats.org/officeDocument/2006/relationships/slide" Target="slides/slide7.xml"/><Relationship Id="rId35" Type="http://schemas.openxmlformats.org/officeDocument/2006/relationships/font" Target="fonts/PatrickHandSC-regular.fntdata"/><Relationship Id="rId12" Type="http://schemas.openxmlformats.org/officeDocument/2006/relationships/slide" Target="slides/slide6.xml"/><Relationship Id="rId34" Type="http://schemas.openxmlformats.org/officeDocument/2006/relationships/font" Target="fonts/Inter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SLIDES_API30135905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SLIDES_API30135905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SLIDES_API301359055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SLIDES_API301359055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SLIDES_API301359055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SLIDES_API301359055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SLIDES_API301359055_2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SLIDES_API301359055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SLIDES_API301359055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SLIDES_API301359055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SLIDES_API301359055_7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SLIDES_API301359055_7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SLIDES_API301359055_6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SLIDES_API301359055_6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SLIDES_API301359055_8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SLIDES_API301359055_8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91110faf1c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91110faf1c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91110faf1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91110faf1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SLIDES_API301359055_8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SLIDES_API301359055_8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SLIDES_API301359055_3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SLIDES_API301359055_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SLIDES_API301359055_4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SLIDES_API301359055_4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SLIDES_API301359055_5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SLIDES_API301359055_5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SLIDES_API301359055_5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SLIDES_API301359055_5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2171700" y="940698"/>
            <a:ext cx="4800600" cy="24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68575" wrap="square" tIns="3427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None/>
              <a:defRPr i="0"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2719817" y="3364264"/>
            <a:ext cx="3704400" cy="4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lvl="1" algn="ctr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6837045" y="4903939"/>
            <a:ext cx="18213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A">
  <p:cSld name="Title only A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1064325" y="472606"/>
            <a:ext cx="7089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68575" wrap="square" tIns="34275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6837045" y="4903939"/>
            <a:ext cx="18213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idx="12" type="sldNum"/>
          </p:nvPr>
        </p:nvSpPr>
        <p:spPr>
          <a:xfrm>
            <a:off x="6837045" y="4903939"/>
            <a:ext cx="18213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1064325" y="472606"/>
            <a:ext cx="7089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68575" wrap="square" tIns="34275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1285875" y="1467294"/>
            <a:ext cx="4829100" cy="32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1pPr>
            <a:lvl2pPr indent="-3175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2pPr>
            <a:lvl3pPr indent="-3175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3pPr>
            <a:lvl4pPr indent="-3175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4pPr>
            <a:lvl5pPr indent="-3175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A">
  <p:cSld name="Blank A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idx="12" type="sldNum"/>
          </p:nvPr>
        </p:nvSpPr>
        <p:spPr>
          <a:xfrm>
            <a:off x="6837045" y="4903939"/>
            <a:ext cx="18213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8"/>
          <p:cNvSpPr txBox="1"/>
          <p:nvPr>
            <p:ph type="title"/>
          </p:nvPr>
        </p:nvSpPr>
        <p:spPr>
          <a:xfrm>
            <a:off x="457200" y="342900"/>
            <a:ext cx="7782900" cy="572700"/>
          </a:xfrm>
          <a:prstGeom prst="rect">
            <a:avLst/>
          </a:prstGeom>
        </p:spPr>
        <p:txBody>
          <a:bodyPr anchorCtr="0" anchor="b" bIns="34275" lIns="0" spcFirstLastPara="1" rIns="68575" wrap="square" tIns="342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2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9"/>
          <p:cNvSpPr txBox="1"/>
          <p:nvPr>
            <p:ph type="title"/>
          </p:nvPr>
        </p:nvSpPr>
        <p:spPr>
          <a:xfrm>
            <a:off x="234450" y="356200"/>
            <a:ext cx="5481900" cy="572700"/>
          </a:xfrm>
          <a:prstGeom prst="rect">
            <a:avLst/>
          </a:prstGeom>
        </p:spPr>
        <p:txBody>
          <a:bodyPr anchorCtr="0" anchor="b" bIns="34275" lIns="0" spcFirstLastPara="1" rIns="68575" wrap="square" tIns="342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" type="body"/>
          </p:nvPr>
        </p:nvSpPr>
        <p:spPr>
          <a:xfrm>
            <a:off x="457200" y="1791950"/>
            <a:ext cx="5259000" cy="27903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indent="-317500" lvl="0" marL="457200">
              <a:spcBef>
                <a:spcPts val="90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17500" lvl="1" marL="914400">
              <a:spcBef>
                <a:spcPts val="15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>
              <a:spcBef>
                <a:spcPts val="15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>
              <a:spcBef>
                <a:spcPts val="15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>
              <a:spcBef>
                <a:spcPts val="15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>
              <a:spcBef>
                <a:spcPts val="15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>
              <a:spcBef>
                <a:spcPts val="15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>
              <a:spcBef>
                <a:spcPts val="15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>
              <a:spcBef>
                <a:spcPts val="1500"/>
              </a:spcBef>
              <a:spcAft>
                <a:spcPts val="150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" name="Google Shape;74;p19"/>
          <p:cNvSpPr/>
          <p:nvPr>
            <p:ph idx="2" type="pic"/>
          </p:nvPr>
        </p:nvSpPr>
        <p:spPr>
          <a:xfrm>
            <a:off x="6173525" y="-13300"/>
            <a:ext cx="2970600" cy="5156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">
  <p:cSld name="CUSTOM_3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0"/>
          <p:cNvSpPr txBox="1"/>
          <p:nvPr>
            <p:ph idx="1" type="body"/>
          </p:nvPr>
        </p:nvSpPr>
        <p:spPr>
          <a:xfrm>
            <a:off x="457200" y="1293450"/>
            <a:ext cx="8229600" cy="3275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330200" lvl="0" marL="457200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1pPr>
            <a:lvl2pPr indent="-3302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2pPr>
            <a:lvl3pPr indent="-3302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3pPr>
            <a:lvl4pPr indent="-3302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4pPr>
            <a:lvl5pPr indent="-3302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5pPr>
            <a:lvl6pPr indent="-3302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6pPr>
            <a:lvl7pPr indent="-3302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7pPr>
            <a:lvl8pPr indent="-3302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8pPr>
            <a:lvl9pPr indent="-3302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7" name="Google Shape;77;p20"/>
          <p:cNvSpPr txBox="1"/>
          <p:nvPr>
            <p:ph type="title"/>
          </p:nvPr>
        </p:nvSpPr>
        <p:spPr>
          <a:xfrm>
            <a:off x="457200" y="537750"/>
            <a:ext cx="5603400" cy="755700"/>
          </a:xfrm>
          <a:prstGeom prst="rect">
            <a:avLst/>
          </a:prstGeom>
        </p:spPr>
        <p:txBody>
          <a:bodyPr anchorCtr="0" anchor="ctr" bIns="34275" lIns="0" spcFirstLastPara="1" rIns="68575" wrap="square" tIns="342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lus Light">
  <p:cSld name="CUSTOM_2_1_2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1"/>
          <p:cNvSpPr txBox="1"/>
          <p:nvPr>
            <p:ph type="title"/>
          </p:nvPr>
        </p:nvSpPr>
        <p:spPr>
          <a:xfrm>
            <a:off x="457200" y="445025"/>
            <a:ext cx="8229600" cy="572700"/>
          </a:xfrm>
          <a:prstGeom prst="rect">
            <a:avLst/>
          </a:prstGeom>
        </p:spPr>
        <p:txBody>
          <a:bodyPr anchorCtr="0" anchor="ctr" bIns="34275" lIns="0" spcFirstLastPara="1" rIns="68575" wrap="square" tIns="342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80" name="Google Shape;80;p21"/>
          <p:cNvSpPr txBox="1"/>
          <p:nvPr>
            <p:ph idx="1" type="subTitle"/>
          </p:nvPr>
        </p:nvSpPr>
        <p:spPr>
          <a:xfrm>
            <a:off x="457200" y="1142050"/>
            <a:ext cx="5519400" cy="441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>
            <a:lvl1pPr lv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 1 2">
  <p:cSld name="CUSTOM_3_1_2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2"/>
          <p:cNvSpPr txBox="1"/>
          <p:nvPr>
            <p:ph type="title"/>
          </p:nvPr>
        </p:nvSpPr>
        <p:spPr>
          <a:xfrm>
            <a:off x="457200" y="445025"/>
            <a:ext cx="8229600" cy="572700"/>
          </a:xfrm>
          <a:prstGeom prst="rect">
            <a:avLst/>
          </a:prstGeom>
        </p:spPr>
        <p:txBody>
          <a:bodyPr anchorCtr="0" anchor="ctr" bIns="34275" lIns="0" spcFirstLastPara="1" rIns="68575" wrap="square" tIns="342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83" name="Google Shape;83;p22"/>
          <p:cNvSpPr txBox="1"/>
          <p:nvPr>
            <p:ph idx="1" type="body"/>
          </p:nvPr>
        </p:nvSpPr>
        <p:spPr>
          <a:xfrm>
            <a:off x="457200" y="1834900"/>
            <a:ext cx="3776100" cy="2734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–"/>
              <a:defRPr sz="1200">
                <a:solidFill>
                  <a:schemeClr val="dk1"/>
                </a:solidFill>
              </a:defRPr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◦"/>
              <a:defRPr sz="1200">
                <a:solidFill>
                  <a:schemeClr val="dk1"/>
                </a:solidFill>
              </a:defRPr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4" name="Google Shape;84;p22"/>
          <p:cNvSpPr txBox="1"/>
          <p:nvPr>
            <p:ph idx="2" type="body"/>
          </p:nvPr>
        </p:nvSpPr>
        <p:spPr>
          <a:xfrm>
            <a:off x="4800400" y="1834900"/>
            <a:ext cx="3776100" cy="2734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–"/>
              <a:defRPr sz="1200">
                <a:solidFill>
                  <a:schemeClr val="dk1"/>
                </a:solidFill>
              </a:defRPr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◦"/>
              <a:defRPr sz="1200">
                <a:solidFill>
                  <a:schemeClr val="dk1"/>
                </a:solidFill>
              </a:defRPr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5" name="Google Shape;85;p22"/>
          <p:cNvSpPr txBox="1"/>
          <p:nvPr>
            <p:ph idx="3" type="subTitle"/>
          </p:nvPr>
        </p:nvSpPr>
        <p:spPr>
          <a:xfrm>
            <a:off x="457200" y="1164900"/>
            <a:ext cx="3776100" cy="572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>
            <a:lvl1pPr lv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86" name="Google Shape;86;p22"/>
          <p:cNvSpPr txBox="1"/>
          <p:nvPr>
            <p:ph idx="4" type="subTitle"/>
          </p:nvPr>
        </p:nvSpPr>
        <p:spPr>
          <a:xfrm>
            <a:off x="4800400" y="1164900"/>
            <a:ext cx="3776100" cy="572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>
            <a:lvl1pPr lv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 SemiBold"/>
              <a:buNone/>
              <a:defRPr sz="1600">
                <a:solidFill>
                  <a:schemeClr val="dk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pos="288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section-2 1">
  <p:cSld name="CUSTOM_3_2_1_1_1_1_1_2"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3"/>
          <p:cNvSpPr txBox="1"/>
          <p:nvPr>
            <p:ph idx="1" type="body"/>
          </p:nvPr>
        </p:nvSpPr>
        <p:spPr>
          <a:xfrm>
            <a:off x="457200" y="2132925"/>
            <a:ext cx="1942500" cy="24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9" name="Google Shape;89;p23"/>
          <p:cNvSpPr txBox="1"/>
          <p:nvPr>
            <p:ph idx="2" type="subTitle"/>
          </p:nvPr>
        </p:nvSpPr>
        <p:spPr>
          <a:xfrm>
            <a:off x="457200" y="1477250"/>
            <a:ext cx="1942500" cy="531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0" lvl="0" marL="0" marR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3"/>
          <p:cNvSpPr txBox="1"/>
          <p:nvPr>
            <p:ph type="title"/>
          </p:nvPr>
        </p:nvSpPr>
        <p:spPr>
          <a:xfrm>
            <a:off x="457200" y="445025"/>
            <a:ext cx="8229600" cy="572700"/>
          </a:xfrm>
          <a:prstGeom prst="rect">
            <a:avLst/>
          </a:prstGeom>
        </p:spPr>
        <p:txBody>
          <a:bodyPr anchorCtr="0" anchor="ctr" bIns="34275" lIns="0" spcFirstLastPara="1" rIns="68575" wrap="square" tIns="342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91" name="Google Shape;91;p23"/>
          <p:cNvSpPr txBox="1"/>
          <p:nvPr>
            <p:ph idx="3" type="body"/>
          </p:nvPr>
        </p:nvSpPr>
        <p:spPr>
          <a:xfrm>
            <a:off x="2552930" y="2132925"/>
            <a:ext cx="1942500" cy="24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2" name="Google Shape;92;p23"/>
          <p:cNvSpPr txBox="1"/>
          <p:nvPr>
            <p:ph idx="4" type="subTitle"/>
          </p:nvPr>
        </p:nvSpPr>
        <p:spPr>
          <a:xfrm>
            <a:off x="2552930" y="1477250"/>
            <a:ext cx="1942500" cy="531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0" lvl="0" marL="0" marR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3"/>
          <p:cNvSpPr txBox="1"/>
          <p:nvPr>
            <p:ph idx="5" type="body"/>
          </p:nvPr>
        </p:nvSpPr>
        <p:spPr>
          <a:xfrm>
            <a:off x="4648660" y="2132925"/>
            <a:ext cx="1942500" cy="24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4" name="Google Shape;94;p23"/>
          <p:cNvSpPr txBox="1"/>
          <p:nvPr>
            <p:ph idx="6" type="subTitle"/>
          </p:nvPr>
        </p:nvSpPr>
        <p:spPr>
          <a:xfrm>
            <a:off x="4648660" y="1477250"/>
            <a:ext cx="1942500" cy="531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0" lvl="0" marL="0" marR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3"/>
          <p:cNvSpPr txBox="1"/>
          <p:nvPr>
            <p:ph idx="7" type="body"/>
          </p:nvPr>
        </p:nvSpPr>
        <p:spPr>
          <a:xfrm>
            <a:off x="6744392" y="2132925"/>
            <a:ext cx="1942500" cy="24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6" name="Google Shape;96;p23"/>
          <p:cNvSpPr txBox="1"/>
          <p:nvPr>
            <p:ph idx="8" type="subTitle"/>
          </p:nvPr>
        </p:nvSpPr>
        <p:spPr>
          <a:xfrm>
            <a:off x="6744392" y="1477250"/>
            <a:ext cx="1942500" cy="531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0" lvl="0" marL="0" marR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section-2 1 1">
  <p:cSld name="CUSTOM_3_2_1_1_1_1_1_2_1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4"/>
          <p:cNvSpPr txBox="1"/>
          <p:nvPr>
            <p:ph idx="1" type="body"/>
          </p:nvPr>
        </p:nvSpPr>
        <p:spPr>
          <a:xfrm>
            <a:off x="491175" y="1593548"/>
            <a:ext cx="3958800" cy="12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9" name="Google Shape;99;p24"/>
          <p:cNvSpPr txBox="1"/>
          <p:nvPr>
            <p:ph idx="2" type="subTitle"/>
          </p:nvPr>
        </p:nvSpPr>
        <p:spPr>
          <a:xfrm>
            <a:off x="491175" y="1253075"/>
            <a:ext cx="3958800" cy="340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0" lvl="0" marL="0" marR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4"/>
          <p:cNvSpPr txBox="1"/>
          <p:nvPr>
            <p:ph type="title"/>
          </p:nvPr>
        </p:nvSpPr>
        <p:spPr>
          <a:xfrm>
            <a:off x="457200" y="445025"/>
            <a:ext cx="8229600" cy="572700"/>
          </a:xfrm>
          <a:prstGeom prst="rect">
            <a:avLst/>
          </a:prstGeom>
        </p:spPr>
        <p:txBody>
          <a:bodyPr anchorCtr="0" anchor="ctr" bIns="34275" lIns="0" spcFirstLastPara="1" rIns="68575" wrap="square" tIns="342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Hanken Grotesk"/>
              <a:buNone/>
              <a:defRPr b="1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01" name="Google Shape;101;p24"/>
          <p:cNvSpPr txBox="1"/>
          <p:nvPr>
            <p:ph idx="3" type="body"/>
          </p:nvPr>
        </p:nvSpPr>
        <p:spPr>
          <a:xfrm>
            <a:off x="4762105" y="1593548"/>
            <a:ext cx="3958800" cy="12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2" name="Google Shape;102;p24"/>
          <p:cNvSpPr txBox="1"/>
          <p:nvPr>
            <p:ph idx="4" type="subTitle"/>
          </p:nvPr>
        </p:nvSpPr>
        <p:spPr>
          <a:xfrm>
            <a:off x="4762102" y="1253075"/>
            <a:ext cx="3958800" cy="340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0" lvl="0" marL="0" marR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4"/>
          <p:cNvSpPr txBox="1"/>
          <p:nvPr>
            <p:ph idx="5" type="body"/>
          </p:nvPr>
        </p:nvSpPr>
        <p:spPr>
          <a:xfrm>
            <a:off x="491113" y="3393823"/>
            <a:ext cx="3958800" cy="12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4" name="Google Shape;104;p24"/>
          <p:cNvSpPr txBox="1"/>
          <p:nvPr>
            <p:ph idx="6" type="subTitle"/>
          </p:nvPr>
        </p:nvSpPr>
        <p:spPr>
          <a:xfrm>
            <a:off x="491113" y="3053350"/>
            <a:ext cx="3958800" cy="340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0" lvl="0" marL="0" marR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4"/>
          <p:cNvSpPr txBox="1"/>
          <p:nvPr>
            <p:ph idx="7" type="body"/>
          </p:nvPr>
        </p:nvSpPr>
        <p:spPr>
          <a:xfrm>
            <a:off x="4762042" y="3393823"/>
            <a:ext cx="3958800" cy="12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6" name="Google Shape;106;p24"/>
          <p:cNvSpPr txBox="1"/>
          <p:nvPr>
            <p:ph idx="8" type="subTitle"/>
          </p:nvPr>
        </p:nvSpPr>
        <p:spPr>
          <a:xfrm>
            <a:off x="4762040" y="3053350"/>
            <a:ext cx="3958800" cy="340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0" lvl="0" marL="0" marR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1064325" y="472606"/>
            <a:ext cx="7089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68575" wrap="square" tIns="34275">
            <a:noAutofit/>
          </a:bodyPr>
          <a:lstStyle>
            <a:lvl1pPr lvl="0" marR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Patrick Hand SC"/>
              <a:buNone/>
              <a:defRPr b="1" i="0" sz="2700" u="none" cap="none" strike="noStrike">
                <a:solidFill>
                  <a:schemeClr val="dk1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atrick Hand SC"/>
              <a:buNone/>
              <a:defRPr b="1" sz="1400">
                <a:solidFill>
                  <a:schemeClr val="dk1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atrick Hand SC"/>
              <a:buNone/>
              <a:defRPr b="1" sz="1400">
                <a:solidFill>
                  <a:schemeClr val="dk1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atrick Hand SC"/>
              <a:buNone/>
              <a:defRPr b="1" sz="1400">
                <a:solidFill>
                  <a:schemeClr val="dk1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atrick Hand SC"/>
              <a:buNone/>
              <a:defRPr b="1" sz="1400">
                <a:solidFill>
                  <a:schemeClr val="dk1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atrick Hand SC"/>
              <a:buNone/>
              <a:defRPr b="1" sz="1400">
                <a:solidFill>
                  <a:schemeClr val="dk1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atrick Hand SC"/>
              <a:buNone/>
              <a:defRPr b="1" sz="1400">
                <a:solidFill>
                  <a:schemeClr val="dk1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atrick Hand SC"/>
              <a:buNone/>
              <a:defRPr b="1" sz="1400">
                <a:solidFill>
                  <a:schemeClr val="dk1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atrick Hand SC"/>
              <a:buNone/>
              <a:defRPr b="1" sz="1400">
                <a:solidFill>
                  <a:schemeClr val="dk1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1285875" y="1341474"/>
            <a:ext cx="6574800" cy="3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marR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atrick Hand"/>
              <a:buChar char="•"/>
              <a:defRPr i="0" sz="1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  <a:lvl2pPr indent="-317500" lvl="1" marL="914400" marR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atrick Hand"/>
              <a:buChar char="•"/>
              <a:defRPr i="0" sz="1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defRPr>
            </a:lvl2pPr>
            <a:lvl3pPr indent="-317500" lvl="2" marL="1371600" marR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atrick Hand"/>
              <a:buChar char="•"/>
              <a:defRPr i="0" sz="1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defRPr>
            </a:lvl3pPr>
            <a:lvl4pPr indent="-317500" lvl="3" marL="1828800" marR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atrick Hand"/>
              <a:buChar char="•"/>
              <a:defRPr i="0" sz="1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defRPr>
            </a:lvl4pPr>
            <a:lvl5pPr indent="-317500" lvl="4" marL="2286000" marR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atrick Hand"/>
              <a:buChar char="•"/>
              <a:defRPr i="0" sz="1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atrick Hand"/>
              <a:buChar char="•"/>
              <a:defRPr i="0" sz="1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atrick Hand"/>
              <a:buChar char="•"/>
              <a:defRPr i="0" sz="1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atrick Hand"/>
              <a:buChar char="•"/>
              <a:defRPr i="0" sz="1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atrick Hand"/>
              <a:buChar char="•"/>
              <a:defRPr i="0" sz="1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6837045" y="4903939"/>
            <a:ext cx="18213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">
          <p15:clr>
            <a:srgbClr val="F26B43"/>
          </p15:clr>
        </p15:guide>
        <p15:guide id="2" orient="horz" pos="3024">
          <p15:clr>
            <a:srgbClr val="F26B43"/>
          </p15:clr>
        </p15:guide>
        <p15:guide id="3" pos="5274">
          <p15:clr>
            <a:srgbClr val="F26B43"/>
          </p15:clr>
        </p15:guide>
        <p15:guide id="4" pos="2880">
          <p15:clr>
            <a:srgbClr val="F26B43"/>
          </p15:clr>
        </p15:guide>
        <p15:guide id="5" pos="486">
          <p15:clr>
            <a:srgbClr val="F26B43"/>
          </p15:clr>
        </p15:guide>
        <p15:guide id="6" orient="horz" pos="1620">
          <p15:clr>
            <a:srgbClr val="F26B43"/>
          </p15:clr>
        </p15:guide>
        <p15:guide id="7" pos="1980">
          <p15:clr>
            <a:srgbClr val="F26B43"/>
          </p15:clr>
        </p15:guide>
        <p15:guide id="8" pos="3744">
          <p15:clr>
            <a:srgbClr val="F26B43"/>
          </p15:clr>
        </p15:guide>
        <p15:guide id="9" orient="horz" pos="72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9.png"/><Relationship Id="rId10" Type="http://schemas.openxmlformats.org/officeDocument/2006/relationships/image" Target="../media/image4.png"/><Relationship Id="rId13" Type="http://schemas.openxmlformats.org/officeDocument/2006/relationships/image" Target="../media/image16.png"/><Relationship Id="rId12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9" Type="http://schemas.openxmlformats.org/officeDocument/2006/relationships/image" Target="../media/image6.png"/><Relationship Id="rId5" Type="http://schemas.openxmlformats.org/officeDocument/2006/relationships/image" Target="../media/image12.png"/><Relationship Id="rId6" Type="http://schemas.openxmlformats.org/officeDocument/2006/relationships/image" Target="../media/image21.png"/><Relationship Id="rId7" Type="http://schemas.openxmlformats.org/officeDocument/2006/relationships/image" Target="../media/image3.png"/><Relationship Id="rId8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2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48.png"/><Relationship Id="rId9" Type="http://schemas.openxmlformats.org/officeDocument/2006/relationships/image" Target="../media/image16.png"/><Relationship Id="rId5" Type="http://schemas.openxmlformats.org/officeDocument/2006/relationships/image" Target="../media/image26.png"/><Relationship Id="rId6" Type="http://schemas.openxmlformats.org/officeDocument/2006/relationships/image" Target="../media/image11.png"/><Relationship Id="rId7" Type="http://schemas.openxmlformats.org/officeDocument/2006/relationships/image" Target="../media/image10.png"/><Relationship Id="rId8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5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Relationship Id="rId4" Type="http://schemas.openxmlformats.org/officeDocument/2006/relationships/image" Target="../media/image14.png"/><Relationship Id="rId5" Type="http://schemas.openxmlformats.org/officeDocument/2006/relationships/image" Target="../media/image55.png"/><Relationship Id="rId6" Type="http://schemas.openxmlformats.org/officeDocument/2006/relationships/image" Target="../media/image51.png"/><Relationship Id="rId7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3.png"/><Relationship Id="rId5" Type="http://schemas.openxmlformats.org/officeDocument/2006/relationships/image" Target="../media/image40.png"/><Relationship Id="rId6" Type="http://schemas.openxmlformats.org/officeDocument/2006/relationships/image" Target="../media/image5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20" Type="http://schemas.openxmlformats.org/officeDocument/2006/relationships/image" Target="../media/image8.png"/><Relationship Id="rId22" Type="http://schemas.openxmlformats.org/officeDocument/2006/relationships/image" Target="../media/image44.png"/><Relationship Id="rId21" Type="http://schemas.openxmlformats.org/officeDocument/2006/relationships/image" Target="../media/image38.png"/><Relationship Id="rId24" Type="http://schemas.openxmlformats.org/officeDocument/2006/relationships/image" Target="../media/image17.png"/><Relationship Id="rId23" Type="http://schemas.openxmlformats.org/officeDocument/2006/relationships/image" Target="../media/image47.png"/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www.figma.com/@maryamato" TargetMode="External"/><Relationship Id="rId4" Type="http://schemas.openxmlformats.org/officeDocument/2006/relationships/image" Target="../media/image13.png"/><Relationship Id="rId9" Type="http://schemas.openxmlformats.org/officeDocument/2006/relationships/image" Target="../media/image3.png"/><Relationship Id="rId26" Type="http://schemas.openxmlformats.org/officeDocument/2006/relationships/image" Target="../media/image19.png"/><Relationship Id="rId25" Type="http://schemas.openxmlformats.org/officeDocument/2006/relationships/image" Target="../media/image5.png"/><Relationship Id="rId28" Type="http://schemas.openxmlformats.org/officeDocument/2006/relationships/image" Target="../media/image43.png"/><Relationship Id="rId27" Type="http://schemas.openxmlformats.org/officeDocument/2006/relationships/image" Target="../media/image41.png"/><Relationship Id="rId5" Type="http://schemas.openxmlformats.org/officeDocument/2006/relationships/image" Target="../media/image1.png"/><Relationship Id="rId6" Type="http://schemas.openxmlformats.org/officeDocument/2006/relationships/image" Target="../media/image10.png"/><Relationship Id="rId29" Type="http://schemas.openxmlformats.org/officeDocument/2006/relationships/image" Target="../media/image42.png"/><Relationship Id="rId7" Type="http://schemas.openxmlformats.org/officeDocument/2006/relationships/image" Target="../media/image12.png"/><Relationship Id="rId8" Type="http://schemas.openxmlformats.org/officeDocument/2006/relationships/image" Target="../media/image21.png"/><Relationship Id="rId30" Type="http://schemas.openxmlformats.org/officeDocument/2006/relationships/image" Target="../media/image46.png"/><Relationship Id="rId11" Type="http://schemas.openxmlformats.org/officeDocument/2006/relationships/image" Target="../media/image6.png"/><Relationship Id="rId10" Type="http://schemas.openxmlformats.org/officeDocument/2006/relationships/image" Target="../media/image2.png"/><Relationship Id="rId13" Type="http://schemas.openxmlformats.org/officeDocument/2006/relationships/image" Target="../media/image9.png"/><Relationship Id="rId12" Type="http://schemas.openxmlformats.org/officeDocument/2006/relationships/image" Target="../media/image4.png"/><Relationship Id="rId15" Type="http://schemas.openxmlformats.org/officeDocument/2006/relationships/image" Target="../media/image37.png"/><Relationship Id="rId14" Type="http://schemas.openxmlformats.org/officeDocument/2006/relationships/image" Target="../media/image40.png"/><Relationship Id="rId17" Type="http://schemas.openxmlformats.org/officeDocument/2006/relationships/image" Target="../media/image45.png"/><Relationship Id="rId16" Type="http://schemas.openxmlformats.org/officeDocument/2006/relationships/image" Target="../media/image36.png"/><Relationship Id="rId19" Type="http://schemas.openxmlformats.org/officeDocument/2006/relationships/image" Target="../media/image34.png"/><Relationship Id="rId18" Type="http://schemas.openxmlformats.org/officeDocument/2006/relationships/image" Target="../media/image3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54.png"/><Relationship Id="rId6" Type="http://schemas.openxmlformats.org/officeDocument/2006/relationships/image" Target="../media/image5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47.png"/><Relationship Id="rId5" Type="http://schemas.openxmlformats.org/officeDocument/2006/relationships/image" Target="../media/image12.png"/><Relationship Id="rId6" Type="http://schemas.openxmlformats.org/officeDocument/2006/relationships/image" Target="../media/image11.png"/><Relationship Id="rId7" Type="http://schemas.openxmlformats.org/officeDocument/2006/relationships/image" Target="../media/image5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3.png"/><Relationship Id="rId4" Type="http://schemas.openxmlformats.org/officeDocument/2006/relationships/image" Target="../media/image11.png"/><Relationship Id="rId5" Type="http://schemas.openxmlformats.org/officeDocument/2006/relationships/image" Target="../media/image60.png"/><Relationship Id="rId6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Relationship Id="rId6" Type="http://schemas.openxmlformats.org/officeDocument/2006/relationships/image" Target="../media/image5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803409">
            <a:off x="7351956" y="2004038"/>
            <a:ext cx="789253" cy="11354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10800000">
            <a:off x="4028851" y="735929"/>
            <a:ext cx="1086296" cy="1410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1719915">
            <a:off x="548274" y="683030"/>
            <a:ext cx="495051" cy="344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8481" y="1070455"/>
            <a:ext cx="1118669" cy="9804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85585" y="3440791"/>
            <a:ext cx="2126982" cy="1658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rot="3123932">
            <a:off x="955924" y="2375057"/>
            <a:ext cx="583375" cy="491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 rot="5561761">
            <a:off x="6947374" y="781897"/>
            <a:ext cx="514350" cy="552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0" y="3838668"/>
            <a:ext cx="2775638" cy="8108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733052" y="3666882"/>
            <a:ext cx="806888" cy="92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070825" y="3606607"/>
            <a:ext cx="2945199" cy="1276100"/>
          </a:xfrm>
          <a:prstGeom prst="rect">
            <a:avLst/>
          </a:prstGeom>
          <a:noFill/>
          <a:ln>
            <a:noFill/>
          </a:ln>
        </p:spPr>
      </p:pic>
      <p:sp>
        <p:nvSpPr>
          <p:cNvPr descr="presentation_title" id="121" name="Google Shape;121;p25"/>
          <p:cNvSpPr txBox="1"/>
          <p:nvPr>
            <p:ph type="ctrTitle"/>
          </p:nvPr>
        </p:nvSpPr>
        <p:spPr>
          <a:xfrm>
            <a:off x="1947150" y="962475"/>
            <a:ext cx="5332500" cy="23928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lang="en" sz="6400"/>
            </a:br>
            <a:r>
              <a:rPr b="0" lang="en" sz="6400"/>
              <a:t>Video Game Sales Analysis</a:t>
            </a:r>
            <a:endParaRPr b="0" sz="6400"/>
          </a:p>
        </p:txBody>
      </p:sp>
      <p:sp>
        <p:nvSpPr>
          <p:cNvPr descr="date" id="122" name="Google Shape;122;p25"/>
          <p:cNvSpPr txBox="1"/>
          <p:nvPr/>
        </p:nvSpPr>
        <p:spPr>
          <a:xfrm rot="2313">
            <a:off x="3205875" y="3796650"/>
            <a:ext cx="2675101" cy="4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November 24th, 2025</a:t>
            </a:r>
            <a:endParaRPr sz="2000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123" name="Google Shape;123;p25"/>
          <p:cNvSpPr txBox="1"/>
          <p:nvPr/>
        </p:nvSpPr>
        <p:spPr>
          <a:xfrm>
            <a:off x="3485575" y="4077550"/>
            <a:ext cx="2003100" cy="4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Kenneth Bathelemy</a:t>
            </a:r>
            <a:endParaRPr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OIM 7502 Fall 2025</a:t>
            </a:r>
            <a:endParaRPr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id="124" name="Google Shape;124;p25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729228" y="788250"/>
            <a:ext cx="3628400" cy="104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0021" y="329319"/>
            <a:ext cx="7670069" cy="4539181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6"/>
          <p:cNvSpPr/>
          <p:nvPr/>
        </p:nvSpPr>
        <p:spPr>
          <a:xfrm rot="5400000">
            <a:off x="826428" y="-162484"/>
            <a:ext cx="316200" cy="1969200"/>
          </a:xfrm>
          <a:prstGeom prst="round2SameRect">
            <a:avLst>
              <a:gd fmla="val 47853" name="adj1"/>
              <a:gd fmla="val 0" name="adj2"/>
            </a:avLst>
          </a:prstGeom>
          <a:solidFill>
            <a:srgbClr val="36FFB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24507">
            <a:off x="7978266" y="3709829"/>
            <a:ext cx="923650" cy="8686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ack background with white lines&#10;&#10;Description automatically generated" id="132" name="Google Shape;132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2729" y="1138658"/>
            <a:ext cx="1406400" cy="500659"/>
          </a:xfrm>
          <a:prstGeom prst="rect">
            <a:avLst/>
          </a:prstGeom>
          <a:noFill/>
          <a:ln>
            <a:noFill/>
          </a:ln>
        </p:spPr>
      </p:pic>
      <p:sp>
        <p:nvSpPr>
          <p:cNvPr descr="title" id="133" name="Google Shape;133;p26"/>
          <p:cNvSpPr txBox="1"/>
          <p:nvPr>
            <p:ph idx="4294967295" type="subTitle"/>
          </p:nvPr>
        </p:nvSpPr>
        <p:spPr>
          <a:xfrm>
            <a:off x="0" y="664175"/>
            <a:ext cx="1940400" cy="31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7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1700">
                <a:latin typeface="Patrick Hand SC"/>
                <a:ea typeface="Patrick Hand SC"/>
                <a:cs typeface="Patrick Hand SC"/>
                <a:sym typeface="Patrick Hand SC"/>
              </a:rPr>
              <a:t>Agenda</a:t>
            </a:r>
            <a:endParaRPr sz="1700">
              <a:latin typeface="Patrick Hand SC"/>
              <a:ea typeface="Patrick Hand SC"/>
              <a:cs typeface="Patrick Hand SC"/>
              <a:sym typeface="Patrick Hand SC"/>
            </a:endParaRPr>
          </a:p>
        </p:txBody>
      </p:sp>
      <p:sp>
        <p:nvSpPr>
          <p:cNvPr descr="agenda_0" id="134" name="Google Shape;134;p26"/>
          <p:cNvSpPr txBox="1"/>
          <p:nvPr/>
        </p:nvSpPr>
        <p:spPr>
          <a:xfrm>
            <a:off x="2019725" y="1053275"/>
            <a:ext cx="4634400" cy="3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09550" lvl="0" marL="20002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atrick Hand"/>
              <a:buChar char="•"/>
            </a:pPr>
            <a:r>
              <a:rPr lang="en" sz="150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Introduction to Project</a:t>
            </a:r>
            <a:endParaRPr sz="1500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-209550" lvl="0" marL="20002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atrick Hand"/>
              <a:buChar char="•"/>
            </a:pPr>
            <a:r>
              <a:rPr lang="en" sz="150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Why Seabor</a:t>
            </a:r>
            <a:r>
              <a:rPr lang="en" sz="150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n?</a:t>
            </a:r>
            <a:endParaRPr sz="1500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-209550" lvl="0" marL="20002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atrick Hand"/>
              <a:buChar char="•"/>
            </a:pPr>
            <a:r>
              <a:rPr lang="en" sz="150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Dataset Summary</a:t>
            </a:r>
            <a:endParaRPr sz="1500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-209550" lvl="0" marL="20002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atrick Hand"/>
              <a:buChar char="•"/>
            </a:pPr>
            <a:r>
              <a:rPr lang="en" sz="150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Sales Insights Example</a:t>
            </a:r>
            <a:endParaRPr sz="1500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-209550" lvl="0" marL="20002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atrick Hand"/>
              <a:buChar char="•"/>
            </a:pPr>
            <a:r>
              <a:rPr lang="en" sz="150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Critic and User Score Correlations</a:t>
            </a:r>
            <a:endParaRPr sz="1500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-209550" lvl="0" marL="20002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atrick Hand"/>
              <a:buChar char="•"/>
            </a:pPr>
            <a:r>
              <a:rPr lang="en" sz="150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Conclusion</a:t>
            </a:r>
            <a:endParaRPr sz="1500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title" id="139" name="Google Shape;139;p27"/>
          <p:cNvSpPr txBox="1"/>
          <p:nvPr>
            <p:ph type="title"/>
          </p:nvPr>
        </p:nvSpPr>
        <p:spPr>
          <a:xfrm>
            <a:off x="3034250" y="268325"/>
            <a:ext cx="2236800" cy="58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n" sz="3200"/>
              <a:t>Introduction</a:t>
            </a:r>
            <a:endParaRPr b="0" sz="3200"/>
          </a:p>
        </p:txBody>
      </p:sp>
      <p:sp>
        <p:nvSpPr>
          <p:cNvPr id="140" name="Google Shape;140;p27"/>
          <p:cNvSpPr/>
          <p:nvPr/>
        </p:nvSpPr>
        <p:spPr>
          <a:xfrm rot="5400000">
            <a:off x="984720" y="-624103"/>
            <a:ext cx="399900" cy="23691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36FFB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chapter" id="141" name="Google Shape;141;p27"/>
          <p:cNvSpPr/>
          <p:nvPr/>
        </p:nvSpPr>
        <p:spPr>
          <a:xfrm rot="-461">
            <a:off x="125" y="404068"/>
            <a:ext cx="22368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7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Patrick Hand SC"/>
                <a:ea typeface="Patrick Hand SC"/>
                <a:cs typeface="Patrick Hand SC"/>
                <a:sym typeface="Patrick Hand SC"/>
              </a:rPr>
              <a:t>Introduction</a:t>
            </a:r>
            <a:endParaRPr sz="1600">
              <a:solidFill>
                <a:schemeClr val="dk1"/>
              </a:solidFill>
              <a:latin typeface="Patrick Hand SC"/>
              <a:ea typeface="Patrick Hand SC"/>
              <a:cs typeface="Patrick Hand SC"/>
              <a:sym typeface="Patrick Hand SC"/>
            </a:endParaRPr>
          </a:p>
        </p:txBody>
      </p:sp>
      <p:sp>
        <p:nvSpPr>
          <p:cNvPr descr="detail" id="142" name="Google Shape;142;p27"/>
          <p:cNvSpPr txBox="1"/>
          <p:nvPr>
            <p:ph idx="1" type="body"/>
          </p:nvPr>
        </p:nvSpPr>
        <p:spPr>
          <a:xfrm>
            <a:off x="1876125" y="1037025"/>
            <a:ext cx="5023200" cy="3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66700" lvl="0" marL="40005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Analyzes 19,000+ video games from Kaggle dataset</a:t>
            </a:r>
            <a:endParaRPr sz="1500"/>
          </a:p>
          <a:p>
            <a:pPr indent="-266700" lvl="0" marL="40005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Explores relationships between ratings, sales, and platforms</a:t>
            </a:r>
            <a:endParaRPr sz="1500"/>
          </a:p>
          <a:p>
            <a:pPr indent="-266700" lvl="0" marL="40005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Demonstrates Seaborn's visualization capabilities for data science</a:t>
            </a:r>
            <a:endParaRPr sz="1500"/>
          </a:p>
          <a:p>
            <a:pPr indent="-266700" lvl="0" marL="40005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Shows integration between Seaborn and Matplotlib for publication-quality graphics</a:t>
            </a:r>
            <a:endParaRPr sz="1500"/>
          </a:p>
          <a:p>
            <a:pPr indent="0" lvl="0" marL="3429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1500"/>
              <a:t>Key Questions:</a:t>
            </a:r>
            <a:endParaRPr sz="1500"/>
          </a:p>
          <a:p>
            <a:pPr indent="-266700" lvl="0" marL="40005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  Do highly-rated games sell more?</a:t>
            </a:r>
            <a:endParaRPr sz="1500"/>
          </a:p>
          <a:p>
            <a:pPr indent="-266700" lvl="0" marL="40005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  How do critics and users differ in their ratings?</a:t>
            </a:r>
            <a:endParaRPr sz="1500"/>
          </a:p>
          <a:p>
            <a:pPr indent="-266700" lvl="0" marL="400050" rtl="0" algn="l">
              <a:lnSpc>
                <a:spcPct val="100000"/>
              </a:lnSpc>
              <a:spcBef>
                <a:spcPts val="900"/>
              </a:spcBef>
              <a:spcAft>
                <a:spcPts val="700"/>
              </a:spcAft>
              <a:buSzPts val="1500"/>
              <a:buChar char="•"/>
            </a:pPr>
            <a:r>
              <a:rPr lang="en" sz="1500"/>
              <a:t>  Which platforms and publishers dominate the market?</a:t>
            </a:r>
            <a:endParaRPr sz="1500"/>
          </a:p>
        </p:txBody>
      </p:sp>
      <p:pic>
        <p:nvPicPr>
          <p:cNvPr id="143" name="Google Shape;14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1575" y="717114"/>
            <a:ext cx="999583" cy="1297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8"/>
          <p:cNvSpPr/>
          <p:nvPr/>
        </p:nvSpPr>
        <p:spPr>
          <a:xfrm rot="5400000">
            <a:off x="984720" y="-624103"/>
            <a:ext cx="399900" cy="23691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36FFB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chapter" id="149" name="Google Shape;149;p28"/>
          <p:cNvSpPr/>
          <p:nvPr/>
        </p:nvSpPr>
        <p:spPr>
          <a:xfrm rot="-461">
            <a:off x="125" y="404068"/>
            <a:ext cx="22368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7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Patrick Hand SC"/>
                <a:ea typeface="Patrick Hand SC"/>
                <a:cs typeface="Patrick Hand SC"/>
                <a:sym typeface="Patrick Hand SC"/>
              </a:rPr>
              <a:t>Seaborn</a:t>
            </a:r>
            <a:endParaRPr sz="1600">
              <a:solidFill>
                <a:schemeClr val="dk1"/>
              </a:solidFill>
              <a:latin typeface="Patrick Hand SC"/>
              <a:ea typeface="Patrick Hand SC"/>
              <a:cs typeface="Patrick Hand SC"/>
              <a:sym typeface="Patrick Hand SC"/>
            </a:endParaRPr>
          </a:p>
        </p:txBody>
      </p:sp>
      <p:sp>
        <p:nvSpPr>
          <p:cNvPr descr="header_0" id="150" name="Google Shape;150;p28"/>
          <p:cNvSpPr txBox="1"/>
          <p:nvPr>
            <p:ph idx="4294967295" type="subTitle"/>
          </p:nvPr>
        </p:nvSpPr>
        <p:spPr>
          <a:xfrm>
            <a:off x="624410" y="1471876"/>
            <a:ext cx="2993100" cy="472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27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Key Advantages for Data Scientists</a:t>
            </a:r>
            <a:endParaRPr sz="1600"/>
          </a:p>
        </p:txBody>
      </p:sp>
      <p:sp>
        <p:nvSpPr>
          <p:cNvPr descr="detail_0" id="151" name="Google Shape;151;p28"/>
          <p:cNvSpPr txBox="1"/>
          <p:nvPr>
            <p:ph idx="1" type="body"/>
          </p:nvPr>
        </p:nvSpPr>
        <p:spPr>
          <a:xfrm>
            <a:off x="227275" y="1912450"/>
            <a:ext cx="4277100" cy="267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Statistical visualization built-in (distributions, correlations, trends)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Minimal code for professional-looking plots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Handles complex multi-variable relationships effortlessly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Built on Matplotlib: combine ease with customization power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Excellent for data analysis and data storytelling</a:t>
            </a:r>
            <a:endParaRPr sz="1500"/>
          </a:p>
        </p:txBody>
      </p:sp>
      <p:sp>
        <p:nvSpPr>
          <p:cNvPr descr="header_1" id="152" name="Google Shape;152;p28"/>
          <p:cNvSpPr txBox="1"/>
          <p:nvPr>
            <p:ph idx="4294967295" type="subTitle"/>
          </p:nvPr>
        </p:nvSpPr>
        <p:spPr>
          <a:xfrm>
            <a:off x="4905619" y="1407800"/>
            <a:ext cx="4014300" cy="3345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27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Common Plot Types We'll See Today</a:t>
            </a:r>
            <a:endParaRPr sz="1600"/>
          </a:p>
        </p:txBody>
      </p:sp>
      <p:sp>
        <p:nvSpPr>
          <p:cNvPr descr="detail_1" id="153" name="Google Shape;153;p28"/>
          <p:cNvSpPr txBox="1"/>
          <p:nvPr>
            <p:ph idx="1" type="body"/>
          </p:nvPr>
        </p:nvSpPr>
        <p:spPr>
          <a:xfrm>
            <a:off x="4636325" y="1742300"/>
            <a:ext cx="4343100" cy="19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countplot, barplot → Categorical comparisons</a:t>
            </a:r>
            <a:endParaRPr sz="1500"/>
          </a:p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histplot, kdeplot → Distributions</a:t>
            </a:r>
            <a:endParaRPr sz="1500"/>
          </a:p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scatterplot, regplot → Relationships</a:t>
            </a:r>
            <a:endParaRPr sz="1500"/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 sz="1500"/>
              <a:t>heatmap → Correlations</a:t>
            </a:r>
            <a:br>
              <a:rPr lang="en"/>
            </a:br>
            <a:endParaRPr/>
          </a:p>
        </p:txBody>
      </p:sp>
      <p:sp>
        <p:nvSpPr>
          <p:cNvPr descr="title" id="154" name="Google Shape;154;p28"/>
          <p:cNvSpPr txBox="1"/>
          <p:nvPr>
            <p:ph type="title"/>
          </p:nvPr>
        </p:nvSpPr>
        <p:spPr>
          <a:xfrm>
            <a:off x="2669100" y="210275"/>
            <a:ext cx="2592600" cy="70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n" sz="3400"/>
              <a:t>Why Seaborn?</a:t>
            </a:r>
            <a:endParaRPr b="0" sz="3400"/>
          </a:p>
        </p:txBody>
      </p:sp>
      <p:pic>
        <p:nvPicPr>
          <p:cNvPr id="155" name="Google Shape;15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25" y="1330371"/>
            <a:ext cx="422374" cy="691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4676" y="1330385"/>
            <a:ext cx="422375" cy="4893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2099" y="1514586"/>
            <a:ext cx="228599" cy="323030"/>
          </a:xfrm>
          <a:prstGeom prst="rect">
            <a:avLst/>
          </a:prstGeom>
          <a:noFill/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8" name="Google Shape;158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41563" y="1460750"/>
            <a:ext cx="228600" cy="228600"/>
          </a:xfrm>
          <a:prstGeom prst="rect">
            <a:avLst/>
          </a:prstGeom>
          <a:noFill/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59" name="Google Shape;159;p28"/>
          <p:cNvGrpSpPr/>
          <p:nvPr/>
        </p:nvGrpSpPr>
        <p:grpSpPr>
          <a:xfrm>
            <a:off x="6833600" y="-1399325"/>
            <a:ext cx="2145825" cy="1093905"/>
            <a:chOff x="6834550" y="-6725"/>
            <a:chExt cx="2145825" cy="1823782"/>
          </a:xfrm>
        </p:grpSpPr>
        <p:grpSp>
          <p:nvGrpSpPr>
            <p:cNvPr id="160" name="Google Shape;160;p28"/>
            <p:cNvGrpSpPr/>
            <p:nvPr/>
          </p:nvGrpSpPr>
          <p:grpSpPr>
            <a:xfrm>
              <a:off x="6834550" y="-6725"/>
              <a:ext cx="2057400" cy="1033200"/>
              <a:chOff x="6083775" y="-1402850"/>
              <a:chExt cx="2057400" cy="1033200"/>
            </a:xfrm>
          </p:grpSpPr>
          <p:sp>
            <p:nvSpPr>
              <p:cNvPr id="161" name="Google Shape;161;p28"/>
              <p:cNvSpPr/>
              <p:nvPr/>
            </p:nvSpPr>
            <p:spPr>
              <a:xfrm>
                <a:off x="6083775" y="-1402850"/>
                <a:ext cx="2057400" cy="1033200"/>
              </a:xfrm>
              <a:prstGeom prst="roundRect">
                <a:avLst>
                  <a:gd fmla="val 8292" name="adj"/>
                </a:avLst>
              </a:prstGeom>
              <a:solidFill>
                <a:srgbClr val="FFFEAC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14288" rotWithShape="0" algn="bl" dir="2760000" dist="57150">
                  <a:srgbClr val="000000">
                    <a:alpha val="19000"/>
                  </a:srgbClr>
                </a:outerShdw>
              </a:effectLst>
            </p:spPr>
            <p:txBody>
              <a:bodyPr anchorCtr="0" anchor="t" bIns="91425" lIns="0" spcFirstLastPara="1" rIns="91425" wrap="square" tIns="4572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sz="900"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2" name="Google Shape;162;p28"/>
              <p:cNvSpPr txBox="1"/>
              <p:nvPr/>
            </p:nvSpPr>
            <p:spPr>
              <a:xfrm>
                <a:off x="6467625" y="-1402850"/>
                <a:ext cx="15714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91425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latin typeface="Inter"/>
                    <a:ea typeface="Inter"/>
                    <a:cs typeface="Inter"/>
                    <a:sym typeface="Inter"/>
                  </a:rPr>
                  <a:t>Plus tip:</a:t>
                </a:r>
                <a:endParaRPr b="1" sz="900"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sp>
          <p:nvSpPr>
            <p:cNvPr descr="plus_tip" id="163" name="Google Shape;163;p28"/>
            <p:cNvSpPr txBox="1"/>
            <p:nvPr/>
          </p:nvSpPr>
          <p:spPr>
            <a:xfrm>
              <a:off x="6922975" y="289500"/>
              <a:ext cx="2057400" cy="79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latin typeface="Inter"/>
                  <a:ea typeface="Inter"/>
                  <a:cs typeface="Inter"/>
                  <a:sym typeface="Inter"/>
                </a:rPr>
                <a:t>Highlight specific examples of Seaborn plots your audience would find useful for their data analysis projects.</a:t>
              </a:r>
              <a:endParaRPr sz="800"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164" name="Google Shape;164;p2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016628" y="1652466"/>
              <a:ext cx="164591" cy="16459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65" name="Google Shape;165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69650" y="717114"/>
            <a:ext cx="999583" cy="129754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8"/>
          <p:cNvSpPr txBox="1"/>
          <p:nvPr/>
        </p:nvSpPr>
        <p:spPr>
          <a:xfrm>
            <a:off x="5258425" y="3420675"/>
            <a:ext cx="3308700" cy="7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Perfect for: Quick exploration AND presentation-ready visuals</a:t>
            </a:r>
            <a:endParaRPr sz="1500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id="167" name="Google Shape;167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515538" y="4121185"/>
            <a:ext cx="1565583" cy="2645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970550" y="224514"/>
            <a:ext cx="2342728" cy="67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title" id="173" name="Google Shape;173;p29"/>
          <p:cNvSpPr txBox="1"/>
          <p:nvPr>
            <p:ph type="title"/>
          </p:nvPr>
        </p:nvSpPr>
        <p:spPr>
          <a:xfrm>
            <a:off x="2618475" y="268325"/>
            <a:ext cx="2889900" cy="58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n" sz="3200"/>
              <a:t>Dataset Overview</a:t>
            </a:r>
            <a:endParaRPr b="0" sz="3200"/>
          </a:p>
        </p:txBody>
      </p:sp>
      <p:sp>
        <p:nvSpPr>
          <p:cNvPr id="174" name="Google Shape;174;p29"/>
          <p:cNvSpPr/>
          <p:nvPr/>
        </p:nvSpPr>
        <p:spPr>
          <a:xfrm rot="5400000">
            <a:off x="984720" y="-624103"/>
            <a:ext cx="399900" cy="23691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36FFB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chapter" id="175" name="Google Shape;175;p29"/>
          <p:cNvSpPr/>
          <p:nvPr/>
        </p:nvSpPr>
        <p:spPr>
          <a:xfrm rot="-461">
            <a:off x="125" y="404068"/>
            <a:ext cx="22368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7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Patrick Hand SC"/>
                <a:ea typeface="Patrick Hand SC"/>
                <a:cs typeface="Patrick Hand SC"/>
                <a:sym typeface="Patrick Hand SC"/>
              </a:rPr>
              <a:t>Dataset</a:t>
            </a:r>
            <a:endParaRPr sz="1600">
              <a:solidFill>
                <a:schemeClr val="dk1"/>
              </a:solidFill>
              <a:latin typeface="Patrick Hand SC"/>
              <a:ea typeface="Patrick Hand SC"/>
              <a:cs typeface="Patrick Hand SC"/>
              <a:sym typeface="Patrick Hand SC"/>
            </a:endParaRPr>
          </a:p>
        </p:txBody>
      </p:sp>
      <p:sp>
        <p:nvSpPr>
          <p:cNvPr descr="header_0" id="176" name="Google Shape;176;p29"/>
          <p:cNvSpPr txBox="1"/>
          <p:nvPr>
            <p:ph idx="4294967295" type="subTitle"/>
          </p:nvPr>
        </p:nvSpPr>
        <p:spPr>
          <a:xfrm>
            <a:off x="138075" y="1143000"/>
            <a:ext cx="3571800" cy="382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900"/>
              </a:spcBef>
              <a:spcAft>
                <a:spcPts val="800"/>
              </a:spcAft>
              <a:buNone/>
            </a:pPr>
            <a:r>
              <a:rPr lang="en" sz="1600"/>
              <a:t>Source &amp; Scope </a:t>
            </a:r>
            <a:endParaRPr sz="1800">
              <a:latin typeface="Patrick Hand SC"/>
              <a:ea typeface="Patrick Hand SC"/>
              <a:cs typeface="Patrick Hand SC"/>
              <a:sym typeface="Patrick Hand SC"/>
            </a:endParaRPr>
          </a:p>
        </p:txBody>
      </p:sp>
      <p:sp>
        <p:nvSpPr>
          <p:cNvPr descr="detail_0" id="177" name="Google Shape;177;p29"/>
          <p:cNvSpPr txBox="1"/>
          <p:nvPr>
            <p:ph idx="1" type="body"/>
          </p:nvPr>
        </p:nvSpPr>
        <p:spPr>
          <a:xfrm>
            <a:off x="138075" y="1525800"/>
            <a:ext cx="3148500" cy="22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38125" lvl="0" marL="3429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" sz="1500"/>
              <a:t>Kaggle Video Game Sales dataset</a:t>
            </a:r>
            <a:endParaRPr sz="1500"/>
          </a:p>
          <a:p>
            <a:pPr indent="-238125" lvl="0" marL="3429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" sz="1500"/>
              <a:t>19,600 games (1977-2020)</a:t>
            </a:r>
            <a:endParaRPr sz="1500"/>
          </a:p>
          <a:p>
            <a:pPr indent="-238125" lvl="0" marL="3429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" sz="1500"/>
              <a:t>Key Variables: Platform, Publisher, Critic_Score, User_Score, Total_Shipped, Released Year</a:t>
            </a:r>
            <a:endParaRPr sz="1500"/>
          </a:p>
          <a:p>
            <a:pPr indent="0" lvl="0" marL="0" rtl="0" algn="l">
              <a:spcBef>
                <a:spcPts val="900"/>
              </a:spcBef>
              <a:spcAft>
                <a:spcPts val="800"/>
              </a:spcAft>
              <a:buNone/>
            </a:pPr>
            <a:r>
              <a:t/>
            </a:r>
            <a:endParaRPr sz="1300"/>
          </a:p>
        </p:txBody>
      </p:sp>
      <p:sp>
        <p:nvSpPr>
          <p:cNvPr descr="header_1" id="178" name="Google Shape;178;p29"/>
          <p:cNvSpPr txBox="1"/>
          <p:nvPr>
            <p:ph idx="4294967295" type="subTitle"/>
          </p:nvPr>
        </p:nvSpPr>
        <p:spPr>
          <a:xfrm>
            <a:off x="3182250" y="1143000"/>
            <a:ext cx="2411100" cy="382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27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Data Quality &amp; Limitations</a:t>
            </a:r>
            <a:endParaRPr sz="1600"/>
          </a:p>
        </p:txBody>
      </p:sp>
      <p:sp>
        <p:nvSpPr>
          <p:cNvPr descr="detail_1" id="179" name="Google Shape;179;p29"/>
          <p:cNvSpPr txBox="1"/>
          <p:nvPr>
            <p:ph idx="1" type="body"/>
          </p:nvPr>
        </p:nvSpPr>
        <p:spPr>
          <a:xfrm>
            <a:off x="3048088" y="1525788"/>
            <a:ext cx="2809500" cy="253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5425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</a:pPr>
            <a:r>
              <a:rPr lang="en" sz="1500"/>
              <a:t>Critic scores: ~10,000 games (51%)</a:t>
            </a:r>
            <a:endParaRPr sz="1500"/>
          </a:p>
          <a:p>
            <a:pPr indent="-238125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User scores: ~2,200 games (11%)</a:t>
            </a:r>
            <a:endParaRPr sz="1500"/>
          </a:p>
          <a:p>
            <a:pPr indent="-238125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Physical sales only - missing digital distribution</a:t>
            </a:r>
            <a:endParaRPr sz="1500"/>
          </a:p>
          <a:p>
            <a:pPr indent="-238125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500"/>
              <a:buChar char="•"/>
            </a:pPr>
            <a:r>
              <a:rPr lang="en" sz="1500"/>
              <a:t>Filtered to complete records for meaningful analysis</a:t>
            </a:r>
            <a:endParaRPr sz="1500"/>
          </a:p>
        </p:txBody>
      </p:sp>
      <p:pic>
        <p:nvPicPr>
          <p:cNvPr id="180" name="Google Shape;18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448392" y="717121"/>
            <a:ext cx="878471" cy="1140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9" title="Screenshot 2025-11-22 at 2.44.29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43600" y="1143000"/>
            <a:ext cx="2988050" cy="271265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9"/>
          <p:cNvSpPr txBox="1"/>
          <p:nvPr/>
        </p:nvSpPr>
        <p:spPr>
          <a:xfrm>
            <a:off x="771525" y="4150075"/>
            <a:ext cx="499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-8100162">
            <a:off x="-172476" y="1783988"/>
            <a:ext cx="1029154" cy="744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848302">
            <a:off x="5008406" y="282428"/>
            <a:ext cx="459018" cy="251483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30"/>
          <p:cNvSpPr/>
          <p:nvPr/>
        </p:nvSpPr>
        <p:spPr>
          <a:xfrm rot="5400000">
            <a:off x="984720" y="-624103"/>
            <a:ext cx="399900" cy="23691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36FFB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chapter" id="190" name="Google Shape;190;p30"/>
          <p:cNvSpPr/>
          <p:nvPr/>
        </p:nvSpPr>
        <p:spPr>
          <a:xfrm rot="-461">
            <a:off x="125" y="404068"/>
            <a:ext cx="22368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7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Patrick Hand SC"/>
                <a:ea typeface="Patrick Hand SC"/>
                <a:cs typeface="Patrick Hand SC"/>
                <a:sym typeface="Patrick Hand SC"/>
              </a:rPr>
              <a:t>Sales Insights</a:t>
            </a:r>
            <a:endParaRPr sz="1600">
              <a:solidFill>
                <a:schemeClr val="dk1"/>
              </a:solidFill>
              <a:latin typeface="Patrick Hand SC"/>
              <a:ea typeface="Patrick Hand SC"/>
              <a:cs typeface="Patrick Hand SC"/>
              <a:sym typeface="Patrick Hand SC"/>
            </a:endParaRPr>
          </a:p>
        </p:txBody>
      </p:sp>
      <p:sp>
        <p:nvSpPr>
          <p:cNvPr descr="title" id="191" name="Google Shape;191;p30"/>
          <p:cNvSpPr txBox="1"/>
          <p:nvPr>
            <p:ph type="title"/>
          </p:nvPr>
        </p:nvSpPr>
        <p:spPr>
          <a:xfrm>
            <a:off x="2435075" y="230175"/>
            <a:ext cx="3056100" cy="73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n" sz="3000"/>
              <a:t>Best-Selling Games</a:t>
            </a:r>
            <a:endParaRPr b="0" sz="3000"/>
          </a:p>
        </p:txBody>
      </p:sp>
      <p:sp>
        <p:nvSpPr>
          <p:cNvPr descr="detail" id="192" name="Google Shape;192;p30"/>
          <p:cNvSpPr txBox="1"/>
          <p:nvPr>
            <p:ph idx="1" type="body"/>
          </p:nvPr>
        </p:nvSpPr>
        <p:spPr>
          <a:xfrm>
            <a:off x="2178575" y="3235775"/>
            <a:ext cx="4570200" cy="181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1500"/>
              <a:t>Key Findings:</a:t>
            </a:r>
            <a:endParaRPr sz="1500"/>
          </a:p>
          <a:p>
            <a:pPr indent="-266700" lvl="0" marL="40005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Wii Sports, Super Mario Bros., and CS:GO lead in shipments</a:t>
            </a:r>
            <a:endParaRPr sz="1500"/>
          </a:p>
          <a:p>
            <a:pPr indent="-266700" lvl="0" marL="40005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Best-sellers ≠ highest-rated (Wii Sports: 82.9M units, 8.0 user score)</a:t>
            </a:r>
            <a:endParaRPr sz="1500"/>
          </a:p>
          <a:p>
            <a:pPr indent="-266700" lvl="0" marL="400050" rtl="0" algn="l">
              <a:lnSpc>
                <a:spcPct val="100000"/>
              </a:lnSpc>
              <a:spcBef>
                <a:spcPts val="900"/>
              </a:spcBef>
              <a:spcAft>
                <a:spcPts val="700"/>
              </a:spcAft>
              <a:buSzPts val="1500"/>
              <a:buChar char="•"/>
            </a:pPr>
            <a:r>
              <a:rPr lang="en" sz="1500"/>
              <a:t>Demonstrates Seaborn + Matplotlib integration</a:t>
            </a:r>
            <a:endParaRPr sz="1500"/>
          </a:p>
        </p:txBody>
      </p:sp>
      <p:pic>
        <p:nvPicPr>
          <p:cNvPr id="193" name="Google Shape;193;p30" title="Screenshot 2025-11-02 at 5.39.03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99300" y="929550"/>
            <a:ext cx="4206851" cy="2610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30" title="Screenshot 2025-11-03 at 11.21.09 A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9512" y="1050828"/>
            <a:ext cx="4334550" cy="2099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flipH="1" rot="10800000">
            <a:off x="1448392" y="717121"/>
            <a:ext cx="878471" cy="114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1"/>
          <p:cNvSpPr/>
          <p:nvPr/>
        </p:nvSpPr>
        <p:spPr>
          <a:xfrm rot="5400000">
            <a:off x="984720" y="-624103"/>
            <a:ext cx="399900" cy="23691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36FFB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chapter" id="201" name="Google Shape;201;p31"/>
          <p:cNvSpPr/>
          <p:nvPr/>
        </p:nvSpPr>
        <p:spPr>
          <a:xfrm rot="-461">
            <a:off x="125" y="404068"/>
            <a:ext cx="22368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7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Patrick Hand SC"/>
                <a:ea typeface="Patrick Hand SC"/>
                <a:cs typeface="Patrick Hand SC"/>
                <a:sym typeface="Patrick Hand SC"/>
              </a:rPr>
              <a:t>Analysis</a:t>
            </a:r>
            <a:endParaRPr sz="1600">
              <a:solidFill>
                <a:schemeClr val="dk1"/>
              </a:solidFill>
              <a:latin typeface="Patrick Hand SC"/>
              <a:ea typeface="Patrick Hand SC"/>
              <a:cs typeface="Patrick Hand SC"/>
              <a:sym typeface="Patrick Hand SC"/>
            </a:endParaRPr>
          </a:p>
        </p:txBody>
      </p:sp>
      <p:sp>
        <p:nvSpPr>
          <p:cNvPr descr="header_0" id="202" name="Google Shape;202;p31"/>
          <p:cNvSpPr txBox="1"/>
          <p:nvPr>
            <p:ph idx="4294967295" type="subTitle"/>
          </p:nvPr>
        </p:nvSpPr>
        <p:spPr>
          <a:xfrm>
            <a:off x="2595475" y="360500"/>
            <a:ext cx="5423700" cy="617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2800">
                <a:latin typeface="Patrick Hand SC"/>
                <a:ea typeface="Patrick Hand SC"/>
                <a:cs typeface="Patrick Hand SC"/>
                <a:sym typeface="Patrick Hand SC"/>
              </a:rPr>
              <a:t>Critic and User Score Correlations</a:t>
            </a:r>
            <a:endParaRPr sz="2800">
              <a:latin typeface="Patrick Hand SC"/>
              <a:ea typeface="Patrick Hand SC"/>
              <a:cs typeface="Patrick Hand SC"/>
              <a:sym typeface="Patrick Hand SC"/>
            </a:endParaRPr>
          </a:p>
        </p:txBody>
      </p:sp>
      <p:sp>
        <p:nvSpPr>
          <p:cNvPr descr="detail_0" id="203" name="Google Shape;203;p31"/>
          <p:cNvSpPr txBox="1"/>
          <p:nvPr>
            <p:ph idx="1" type="body"/>
          </p:nvPr>
        </p:nvSpPr>
        <p:spPr>
          <a:xfrm>
            <a:off x="4843925" y="1531075"/>
            <a:ext cx="3413100" cy="29388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Critic scores have a weak positive relationship with total shipments (r = 0.24)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User scores show an even weaker correlation (r = 0.15)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Critics and users moderately agree with each other (r = 0.52)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Implications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This i</a:t>
            </a:r>
            <a:r>
              <a:rPr lang="en"/>
              <a:t>ndicates ratings are not strong predictors of sales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Marketing, brand, and accessibility drive sales more than quality</a:t>
            </a:r>
            <a:endParaRPr/>
          </a:p>
        </p:txBody>
      </p:sp>
      <p:sp>
        <p:nvSpPr>
          <p:cNvPr descr="header_1" id="204" name="Google Shape;204;p31"/>
          <p:cNvSpPr txBox="1"/>
          <p:nvPr>
            <p:ph idx="4294967295" type="subTitle"/>
          </p:nvPr>
        </p:nvSpPr>
        <p:spPr>
          <a:xfrm>
            <a:off x="4934700" y="1152200"/>
            <a:ext cx="2787000" cy="342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1500"/>
              <a:t>Correlation Heatmap Insights</a:t>
            </a:r>
            <a:endParaRPr sz="1500"/>
          </a:p>
        </p:txBody>
      </p:sp>
      <p:pic>
        <p:nvPicPr>
          <p:cNvPr id="205" name="Google Shape;205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62713" y="4511769"/>
            <a:ext cx="730974" cy="2287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" y="870129"/>
            <a:ext cx="2210801" cy="172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3188765">
            <a:off x="7232223" y="314464"/>
            <a:ext cx="480317" cy="2631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31" title="Screenshot 2025-11-02 at 5.37.52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2850" y="1152202"/>
            <a:ext cx="3641905" cy="37962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title" id="213" name="Google Shape;213;p32"/>
          <p:cNvSpPr txBox="1"/>
          <p:nvPr>
            <p:ph type="title"/>
          </p:nvPr>
        </p:nvSpPr>
        <p:spPr>
          <a:xfrm>
            <a:off x="2882250" y="268325"/>
            <a:ext cx="3379500" cy="58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n" sz="3200"/>
              <a:t>Conclusion</a:t>
            </a:r>
            <a:endParaRPr b="0" sz="3200"/>
          </a:p>
        </p:txBody>
      </p:sp>
      <p:sp>
        <p:nvSpPr>
          <p:cNvPr id="214" name="Google Shape;214;p32"/>
          <p:cNvSpPr/>
          <p:nvPr/>
        </p:nvSpPr>
        <p:spPr>
          <a:xfrm rot="5400000">
            <a:off x="984720" y="-624103"/>
            <a:ext cx="399900" cy="23691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36FFB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chapter" id="215" name="Google Shape;215;p32"/>
          <p:cNvSpPr/>
          <p:nvPr/>
        </p:nvSpPr>
        <p:spPr>
          <a:xfrm rot="-461">
            <a:off x="125" y="404068"/>
            <a:ext cx="22368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7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Patrick Hand SC"/>
                <a:ea typeface="Patrick Hand SC"/>
                <a:cs typeface="Patrick Hand SC"/>
                <a:sym typeface="Patrick Hand SC"/>
              </a:rPr>
              <a:t>Conclusion</a:t>
            </a:r>
            <a:endParaRPr sz="1600">
              <a:solidFill>
                <a:schemeClr val="dk1"/>
              </a:solidFill>
              <a:latin typeface="Patrick Hand SC"/>
              <a:ea typeface="Patrick Hand SC"/>
              <a:cs typeface="Patrick Hand SC"/>
              <a:sym typeface="Patrick Hand SC"/>
            </a:endParaRPr>
          </a:p>
        </p:txBody>
      </p:sp>
      <p:sp>
        <p:nvSpPr>
          <p:cNvPr descr="detail" id="216" name="Google Shape;216;p32"/>
          <p:cNvSpPr txBox="1"/>
          <p:nvPr>
            <p:ph idx="1" type="body"/>
          </p:nvPr>
        </p:nvSpPr>
        <p:spPr>
          <a:xfrm>
            <a:off x="214300" y="1290400"/>
            <a:ext cx="3869700" cy="320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1500"/>
              <a:t>What I Discovered</a:t>
            </a:r>
            <a:endParaRPr sz="1500"/>
          </a:p>
          <a:p>
            <a:pPr indent="-266700" lvl="0" marL="40005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Platform choice matters - DS/PS2 had most games, but PS2 led in sales</a:t>
            </a:r>
            <a:endParaRPr sz="1500"/>
          </a:p>
          <a:p>
            <a:pPr indent="-266700" lvl="0" marL="40005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Quality ≠ Sales - Best-sellers often have average ratings</a:t>
            </a:r>
            <a:endParaRPr sz="1500"/>
          </a:p>
          <a:p>
            <a:pPr indent="-266700" lvl="0" marL="40005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Critics and users moderately agree (r = 0.52)</a:t>
            </a:r>
            <a:endParaRPr sz="1500"/>
          </a:p>
          <a:p>
            <a:pPr indent="-266700" lvl="0" marL="400050" rtl="0" algn="l">
              <a:lnSpc>
                <a:spcPct val="100000"/>
              </a:lnSpc>
              <a:spcBef>
                <a:spcPts val="900"/>
              </a:spcBef>
              <a:spcAft>
                <a:spcPts val="700"/>
              </a:spcAft>
              <a:buSzPts val="1500"/>
              <a:buChar char="•"/>
            </a:pPr>
            <a:r>
              <a:rPr lang="en" sz="1500"/>
              <a:t>Sales driven by marketing and brand, not just ratings</a:t>
            </a:r>
            <a:endParaRPr sz="1500"/>
          </a:p>
        </p:txBody>
      </p:sp>
      <p:pic>
        <p:nvPicPr>
          <p:cNvPr id="217" name="Google Shape;21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7350" y="717114"/>
            <a:ext cx="999583" cy="129754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32"/>
          <p:cNvSpPr txBox="1"/>
          <p:nvPr/>
        </p:nvSpPr>
        <p:spPr>
          <a:xfrm>
            <a:off x="4486325" y="1290400"/>
            <a:ext cx="4381800" cy="30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Why Seaborn for Data Science?</a:t>
            </a:r>
            <a:endParaRPr sz="1500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✓ Fast exploratory analysis with minimal code</a:t>
            </a:r>
            <a:endParaRPr sz="1500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✓ Statistical visualizations built-in (KDE, regression, correlations)</a:t>
            </a:r>
            <a:endParaRPr sz="1500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✓ Combines with Matplotlib for publication-quality output</a:t>
            </a:r>
            <a:endParaRPr sz="1500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✓ Ideal for storytelling with data</a:t>
            </a:r>
            <a:endParaRPr sz="1500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Bottom Line</a:t>
            </a:r>
            <a:endParaRPr sz="1500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rtl="0" algn="l">
              <a:spcBef>
                <a:spcPts val="900"/>
              </a:spcBef>
              <a:spcAft>
                <a:spcPts val="700"/>
              </a:spcAft>
              <a:buNone/>
            </a:pPr>
            <a:r>
              <a:rPr lang="en" sz="150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Seaborn = Speed + Clarity + Professional Results</a:t>
            </a:r>
            <a:endParaRPr sz="1500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title" id="223" name="Google Shape;223;p33"/>
          <p:cNvSpPr txBox="1"/>
          <p:nvPr>
            <p:ph type="title"/>
          </p:nvPr>
        </p:nvSpPr>
        <p:spPr>
          <a:xfrm>
            <a:off x="3325950" y="1886550"/>
            <a:ext cx="2492100" cy="6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n" sz="3200"/>
              <a:t>Thank You</a:t>
            </a:r>
            <a:endParaRPr b="0" sz="3200"/>
          </a:p>
        </p:txBody>
      </p:sp>
      <p:sp>
        <p:nvSpPr>
          <p:cNvPr id="224" name="Google Shape;224;p33"/>
          <p:cNvSpPr/>
          <p:nvPr/>
        </p:nvSpPr>
        <p:spPr>
          <a:xfrm rot="5400000">
            <a:off x="984720" y="-624103"/>
            <a:ext cx="399900" cy="23691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36FFB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chapter" id="225" name="Google Shape;225;p33"/>
          <p:cNvSpPr/>
          <p:nvPr/>
        </p:nvSpPr>
        <p:spPr>
          <a:xfrm rot="-461">
            <a:off x="125" y="404068"/>
            <a:ext cx="22368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7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Patrick Hand SC"/>
              <a:ea typeface="Patrick Hand SC"/>
              <a:cs typeface="Patrick Hand SC"/>
              <a:sym typeface="Patrick Hand SC"/>
            </a:endParaRPr>
          </a:p>
        </p:txBody>
      </p:sp>
      <p:sp>
        <p:nvSpPr>
          <p:cNvPr id="226" name="Google Shape;226;p33"/>
          <p:cNvSpPr txBox="1"/>
          <p:nvPr/>
        </p:nvSpPr>
        <p:spPr>
          <a:xfrm>
            <a:off x="103725" y="4478850"/>
            <a:ext cx="1230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900"/>
              </a:spcBef>
              <a:spcAft>
                <a:spcPts val="700"/>
              </a:spcAft>
              <a:buNone/>
            </a:pPr>
            <a:r>
              <a:rPr lang="en" sz="150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Coding Part :)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title" id="231" name="Google Shape;231;p34"/>
          <p:cNvSpPr txBox="1"/>
          <p:nvPr>
            <p:ph type="title"/>
          </p:nvPr>
        </p:nvSpPr>
        <p:spPr>
          <a:xfrm>
            <a:off x="2795625" y="268325"/>
            <a:ext cx="2021100" cy="58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n" sz="3200"/>
              <a:t>APPENDIX </a:t>
            </a:r>
            <a:endParaRPr b="0" sz="3200"/>
          </a:p>
        </p:txBody>
      </p:sp>
      <p:sp>
        <p:nvSpPr>
          <p:cNvPr id="232" name="Google Shape;232;p34"/>
          <p:cNvSpPr/>
          <p:nvPr/>
        </p:nvSpPr>
        <p:spPr>
          <a:xfrm rot="5400000">
            <a:off x="984720" y="-624103"/>
            <a:ext cx="399900" cy="23691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36FFB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chapter" id="233" name="Google Shape;233;p34"/>
          <p:cNvSpPr/>
          <p:nvPr/>
        </p:nvSpPr>
        <p:spPr>
          <a:xfrm rot="-461">
            <a:off x="125" y="404068"/>
            <a:ext cx="22368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7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Patrick Hand SC"/>
              <a:ea typeface="Patrick Hand SC"/>
              <a:cs typeface="Patrick Hand SC"/>
              <a:sym typeface="Patrick Hand S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5"/>
          <p:cNvSpPr txBox="1"/>
          <p:nvPr/>
        </p:nvSpPr>
        <p:spPr>
          <a:xfrm>
            <a:off x="777565" y="322239"/>
            <a:ext cx="2365800" cy="473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200"/>
              <a:buFont typeface="Arial"/>
              <a:buNone/>
            </a:pPr>
            <a:r>
              <a:rPr i="0" lang="en" sz="1200" cap="none">
                <a:solidFill>
                  <a:srgbClr val="1E1E1E"/>
                </a:solidFill>
                <a:latin typeface="Patrick Hand SC"/>
                <a:ea typeface="Patrick Hand SC"/>
                <a:cs typeface="Patrick Hand SC"/>
                <a:sym typeface="Patrick Hand SC"/>
              </a:rPr>
              <a:t>REUSABLE GRAPHICS FOR YOUR PRESENTATIONS + SLIDES</a:t>
            </a:r>
            <a:endParaRPr sz="1100">
              <a:latin typeface="Patrick Hand SC"/>
              <a:ea typeface="Patrick Hand SC"/>
              <a:cs typeface="Patrick Hand SC"/>
              <a:sym typeface="Patrick Hand SC"/>
            </a:endParaRPr>
          </a:p>
        </p:txBody>
      </p:sp>
      <p:sp>
        <p:nvSpPr>
          <p:cNvPr id="239" name="Google Shape;239;p35"/>
          <p:cNvSpPr txBox="1"/>
          <p:nvPr/>
        </p:nvSpPr>
        <p:spPr>
          <a:xfrm>
            <a:off x="777565" y="773620"/>
            <a:ext cx="23658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800"/>
              <a:buFont typeface="Arial"/>
              <a:buNone/>
            </a:pPr>
            <a:r>
              <a:rPr i="0" lang="en" sz="800" cap="none">
                <a:solidFill>
                  <a:srgbClr val="1E1E1E"/>
                </a:solidFill>
                <a:latin typeface="Patrick Hand SC"/>
                <a:ea typeface="Patrick Hand SC"/>
                <a:cs typeface="Patrick Hand SC"/>
                <a:sym typeface="Patrick Hand SC"/>
              </a:rPr>
              <a:t>ICONS BY </a:t>
            </a:r>
            <a:r>
              <a:rPr i="0" lang="en" sz="800" u="sng" cap="none">
                <a:solidFill>
                  <a:srgbClr val="011627"/>
                </a:solidFill>
                <a:latin typeface="Patrick Hand SC"/>
                <a:ea typeface="Patrick Hand SC"/>
                <a:cs typeface="Patrick Hand SC"/>
                <a:sym typeface="Patrick Hand SC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MARY AMATO</a:t>
            </a:r>
            <a:endParaRPr i="0" sz="800" cap="none">
              <a:solidFill>
                <a:srgbClr val="1E1E1E"/>
              </a:solidFill>
              <a:latin typeface="Patrick Hand SC"/>
              <a:ea typeface="Patrick Hand SC"/>
              <a:cs typeface="Patrick Hand SC"/>
              <a:sym typeface="Patrick Hand SC"/>
            </a:endParaRPr>
          </a:p>
        </p:txBody>
      </p:sp>
      <p:pic>
        <p:nvPicPr>
          <p:cNvPr id="240" name="Google Shape;240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558" y="1234737"/>
            <a:ext cx="1239093" cy="346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49483" y="420317"/>
            <a:ext cx="444089" cy="638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flipH="1" rot="10800000">
            <a:off x="3659020" y="535373"/>
            <a:ext cx="806892" cy="104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3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94828" y="468659"/>
            <a:ext cx="391235" cy="271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3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507046" y="1330090"/>
            <a:ext cx="728963" cy="638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3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656189" y="820147"/>
            <a:ext cx="1530964" cy="11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3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38350" y="668049"/>
            <a:ext cx="391234" cy="3294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3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 rot="4460130">
            <a:off x="6618093" y="3027952"/>
            <a:ext cx="353552" cy="3797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3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681038" y="1162800"/>
            <a:ext cx="1530969" cy="4472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3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708389" y="3856523"/>
            <a:ext cx="590550" cy="6773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3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 rot="2914140">
            <a:off x="6577827" y="2226509"/>
            <a:ext cx="372670" cy="204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3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810626" y="4135501"/>
            <a:ext cx="1237143" cy="4539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35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7536122" y="3149638"/>
            <a:ext cx="670809" cy="638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35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7498855" y="2239865"/>
            <a:ext cx="745343" cy="638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35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769558" y="1649523"/>
            <a:ext cx="1388276" cy="34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35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 rot="3248877">
            <a:off x="6078181" y="2214560"/>
            <a:ext cx="199461" cy="2148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35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769558" y="2535856"/>
            <a:ext cx="2564381" cy="15000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35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5969025" y="1330413"/>
            <a:ext cx="429886" cy="3915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35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3634973" y="1822711"/>
            <a:ext cx="1074795" cy="94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35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6519135" y="1366116"/>
            <a:ext cx="429886" cy="3439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35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3656189" y="2215997"/>
            <a:ext cx="1565583" cy="2645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35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7556708" y="4059413"/>
            <a:ext cx="679301" cy="638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35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 flipH="1">
            <a:off x="3732422" y="2739281"/>
            <a:ext cx="1125038" cy="744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35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809223" y="4492169"/>
            <a:ext cx="3073281" cy="2493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35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809223" y="4145521"/>
            <a:ext cx="3115256" cy="252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35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809223" y="2119327"/>
            <a:ext cx="1388276" cy="34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35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5867942" y="3039897"/>
            <a:ext cx="461099" cy="3258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title" id="271" name="Google Shape;271;p36"/>
          <p:cNvSpPr txBox="1"/>
          <p:nvPr>
            <p:ph type="title"/>
          </p:nvPr>
        </p:nvSpPr>
        <p:spPr>
          <a:xfrm>
            <a:off x="2835725" y="360500"/>
            <a:ext cx="2810400" cy="58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n" sz="3200"/>
              <a:t>Volume &amp; Sales</a:t>
            </a:r>
            <a:endParaRPr b="0" sz="3200"/>
          </a:p>
        </p:txBody>
      </p:sp>
      <p:sp>
        <p:nvSpPr>
          <p:cNvPr id="272" name="Google Shape;272;p36"/>
          <p:cNvSpPr/>
          <p:nvPr/>
        </p:nvSpPr>
        <p:spPr>
          <a:xfrm rot="5400000">
            <a:off x="984720" y="-624103"/>
            <a:ext cx="399900" cy="23691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36FFB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chapter" id="273" name="Google Shape;273;p36"/>
          <p:cNvSpPr/>
          <p:nvPr/>
        </p:nvSpPr>
        <p:spPr>
          <a:xfrm rot="-461">
            <a:off x="125" y="404068"/>
            <a:ext cx="22368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7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Patrick Hand SC"/>
                <a:ea typeface="Patrick Hand SC"/>
                <a:cs typeface="Patrick Hand SC"/>
                <a:sym typeface="Patrick Hand SC"/>
              </a:rPr>
              <a:t>Platforms</a:t>
            </a:r>
            <a:endParaRPr sz="1600">
              <a:solidFill>
                <a:schemeClr val="dk1"/>
              </a:solidFill>
              <a:latin typeface="Patrick Hand SC"/>
              <a:ea typeface="Patrick Hand SC"/>
              <a:cs typeface="Patrick Hand SC"/>
              <a:sym typeface="Patrick Hand SC"/>
            </a:endParaRPr>
          </a:p>
        </p:txBody>
      </p:sp>
      <p:sp>
        <p:nvSpPr>
          <p:cNvPr descr="header_0" id="274" name="Google Shape;274;p36"/>
          <p:cNvSpPr txBox="1"/>
          <p:nvPr>
            <p:ph idx="4294967295" type="subTitle"/>
          </p:nvPr>
        </p:nvSpPr>
        <p:spPr>
          <a:xfrm>
            <a:off x="771525" y="940750"/>
            <a:ext cx="3571800" cy="382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27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Patrick Hand SC"/>
                <a:ea typeface="Patrick Hand SC"/>
                <a:cs typeface="Patrick Hand SC"/>
                <a:sym typeface="Patrick Hand SC"/>
              </a:rPr>
              <a:t>Top Platforms by Game Count</a:t>
            </a:r>
            <a:endParaRPr sz="1600">
              <a:latin typeface="Patrick Hand SC"/>
              <a:ea typeface="Patrick Hand SC"/>
              <a:cs typeface="Patrick Hand SC"/>
              <a:sym typeface="Patrick Hand SC"/>
            </a:endParaRPr>
          </a:p>
        </p:txBody>
      </p:sp>
      <p:sp>
        <p:nvSpPr>
          <p:cNvPr descr="detail_0" id="275" name="Google Shape;275;p36"/>
          <p:cNvSpPr txBox="1"/>
          <p:nvPr>
            <p:ph idx="1" type="body"/>
          </p:nvPr>
        </p:nvSpPr>
        <p:spPr>
          <a:xfrm>
            <a:off x="771525" y="1323675"/>
            <a:ext cx="3571800" cy="253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5425" lvl="0" marL="3429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</a:pPr>
            <a:r>
              <a:rPr lang="en" sz="1300"/>
              <a:t>DS and PS2 have the highest number of game titles released.</a:t>
            </a:r>
            <a:endParaRPr sz="1300"/>
          </a:p>
          <a:p>
            <a:pPr indent="-225425" lvl="0" marL="3429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</a:pPr>
            <a:r>
              <a:rPr lang="en" sz="1300"/>
              <a:t>These platforms dominate the volume metric in the dataset.</a:t>
            </a:r>
            <a:endParaRPr sz="1300"/>
          </a:p>
          <a:p>
            <a:pPr indent="-225425" lvl="0" marL="342900" rtl="0" algn="l">
              <a:spcBef>
                <a:spcPts val="900"/>
              </a:spcBef>
              <a:spcAft>
                <a:spcPts val="800"/>
              </a:spcAft>
              <a:buClr>
                <a:schemeClr val="dk1"/>
              </a:buClr>
              <a:buSzPts val="1300"/>
              <a:buChar char="•"/>
            </a:pPr>
            <a:r>
              <a:rPr lang="en" sz="1300"/>
              <a:t>High title count indicates platform popularity and developer focus.</a:t>
            </a:r>
            <a:endParaRPr sz="1300"/>
          </a:p>
        </p:txBody>
      </p:sp>
      <p:sp>
        <p:nvSpPr>
          <p:cNvPr descr="header_1" id="276" name="Google Shape;276;p36"/>
          <p:cNvSpPr txBox="1"/>
          <p:nvPr>
            <p:ph idx="4294967295" type="subTitle"/>
          </p:nvPr>
        </p:nvSpPr>
        <p:spPr>
          <a:xfrm>
            <a:off x="4657800" y="940875"/>
            <a:ext cx="3571800" cy="382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27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Patrick Hand SC"/>
                <a:ea typeface="Patrick Hand SC"/>
                <a:cs typeface="Patrick Hand SC"/>
                <a:sym typeface="Patrick Hand SC"/>
              </a:rPr>
              <a:t>Top Platforms by Total Shipments</a:t>
            </a:r>
            <a:endParaRPr sz="1600">
              <a:latin typeface="Patrick Hand SC"/>
              <a:ea typeface="Patrick Hand SC"/>
              <a:cs typeface="Patrick Hand SC"/>
              <a:sym typeface="Patrick Hand SC"/>
            </a:endParaRPr>
          </a:p>
        </p:txBody>
      </p:sp>
      <p:sp>
        <p:nvSpPr>
          <p:cNvPr descr="detail_1" id="277" name="Google Shape;277;p36"/>
          <p:cNvSpPr txBox="1"/>
          <p:nvPr>
            <p:ph idx="1" type="body"/>
          </p:nvPr>
        </p:nvSpPr>
        <p:spPr>
          <a:xfrm>
            <a:off x="4613575" y="1323675"/>
            <a:ext cx="3571800" cy="253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5425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</a:pPr>
            <a:r>
              <a:rPr lang="en" sz="1300"/>
              <a:t>PS2 leads in total game units shipped, followed by PC and Xbox 360.</a:t>
            </a:r>
            <a:endParaRPr sz="1300"/>
          </a:p>
          <a:p>
            <a:pPr indent="-225425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</a:pPr>
            <a:r>
              <a:rPr lang="en" sz="1300"/>
              <a:t>Shipment volume reflects commercial success beyond just game quantity.</a:t>
            </a:r>
            <a:endParaRPr sz="1300"/>
          </a:p>
          <a:p>
            <a:pPr indent="-225425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300"/>
              <a:buChar char="•"/>
            </a:pPr>
            <a:r>
              <a:rPr lang="en" sz="1300"/>
              <a:t>Highlights platforms with strong market penetration and sales performance.</a:t>
            </a:r>
            <a:endParaRPr sz="1300"/>
          </a:p>
        </p:txBody>
      </p:sp>
      <p:pic>
        <p:nvPicPr>
          <p:cNvPr id="278" name="Google Shape;278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7098292" y="246471"/>
            <a:ext cx="878471" cy="1140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9" name="Google Shape;279;p36"/>
          <p:cNvGrpSpPr/>
          <p:nvPr/>
        </p:nvGrpSpPr>
        <p:grpSpPr>
          <a:xfrm>
            <a:off x="6913175" y="-1480100"/>
            <a:ext cx="2057400" cy="1033200"/>
            <a:chOff x="6922975" y="1548525"/>
            <a:chExt cx="2057400" cy="1033200"/>
          </a:xfrm>
        </p:grpSpPr>
        <p:grpSp>
          <p:nvGrpSpPr>
            <p:cNvPr id="280" name="Google Shape;280;p36"/>
            <p:cNvGrpSpPr/>
            <p:nvPr/>
          </p:nvGrpSpPr>
          <p:grpSpPr>
            <a:xfrm>
              <a:off x="6922975" y="1548525"/>
              <a:ext cx="2057400" cy="1033200"/>
              <a:chOff x="6172200" y="152400"/>
              <a:chExt cx="2057400" cy="1033200"/>
            </a:xfrm>
          </p:grpSpPr>
          <p:sp>
            <p:nvSpPr>
              <p:cNvPr id="281" name="Google Shape;281;p36"/>
              <p:cNvSpPr/>
              <p:nvPr/>
            </p:nvSpPr>
            <p:spPr>
              <a:xfrm>
                <a:off x="6172200" y="152400"/>
                <a:ext cx="2057400" cy="1033200"/>
              </a:xfrm>
              <a:prstGeom prst="roundRect">
                <a:avLst>
                  <a:gd fmla="val 8292" name="adj"/>
                </a:avLst>
              </a:prstGeom>
              <a:solidFill>
                <a:srgbClr val="FFFEAC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14288" rotWithShape="0" algn="bl" dir="2760000" dist="57150">
                  <a:srgbClr val="000000">
                    <a:alpha val="19000"/>
                  </a:srgbClr>
                </a:outerShdw>
              </a:effectLst>
            </p:spPr>
            <p:txBody>
              <a:bodyPr anchorCtr="0" anchor="t" bIns="91425" lIns="0" spcFirstLastPara="1" rIns="91425" wrap="square" tIns="4572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sz="900"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82" name="Google Shape;282;p36"/>
              <p:cNvSpPr txBox="1"/>
              <p:nvPr/>
            </p:nvSpPr>
            <p:spPr>
              <a:xfrm>
                <a:off x="6467625" y="224325"/>
                <a:ext cx="15714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91425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latin typeface="Inter"/>
                    <a:ea typeface="Inter"/>
                    <a:cs typeface="Inter"/>
                    <a:sym typeface="Inter"/>
                  </a:rPr>
                  <a:t>Plus tip:</a:t>
                </a:r>
                <a:endParaRPr b="1" sz="900"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sp>
          <p:nvSpPr>
            <p:cNvPr descr="plus_tip" id="283" name="Google Shape;283;p36"/>
            <p:cNvSpPr txBox="1"/>
            <p:nvPr/>
          </p:nvSpPr>
          <p:spPr>
            <a:xfrm>
              <a:off x="6922975" y="1784025"/>
              <a:ext cx="2057400" cy="79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latin typeface="Inter"/>
                  <a:ea typeface="Inter"/>
                  <a:cs typeface="Inter"/>
                  <a:sym typeface="Inter"/>
                </a:rPr>
                <a:t>Customize by adding recent platform sales data to show market trends over time.</a:t>
              </a:r>
              <a:endParaRPr sz="800"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284" name="Google Shape;28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016628" y="1652466"/>
              <a:ext cx="164591" cy="16459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85" name="Google Shape;285;p36" title="Screenshot 2025-11-02 at 5.10.41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73700" y="3040375"/>
            <a:ext cx="3017520" cy="2103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36" title="Screenshot 2025-11-02 at 5.12.15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05763" y="3040375"/>
            <a:ext cx="3017520" cy="21031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Google Shape;29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7022" y="1229009"/>
            <a:ext cx="4240138" cy="3636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7382535" y="3385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7"/>
          <p:cNvSpPr/>
          <p:nvPr/>
        </p:nvSpPr>
        <p:spPr>
          <a:xfrm rot="5400000">
            <a:off x="984720" y="-624103"/>
            <a:ext cx="399900" cy="23691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36FFB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chapter" id="294" name="Google Shape;294;p37"/>
          <p:cNvSpPr/>
          <p:nvPr/>
        </p:nvSpPr>
        <p:spPr>
          <a:xfrm rot="-461">
            <a:off x="125" y="404068"/>
            <a:ext cx="22368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7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Patrick Hand SC"/>
                <a:ea typeface="Patrick Hand SC"/>
                <a:cs typeface="Patrick Hand SC"/>
                <a:sym typeface="Patrick Hand SC"/>
              </a:rPr>
              <a:t>Platforms</a:t>
            </a:r>
            <a:endParaRPr sz="1600">
              <a:solidFill>
                <a:schemeClr val="dk1"/>
              </a:solidFill>
              <a:latin typeface="Patrick Hand SC"/>
              <a:ea typeface="Patrick Hand SC"/>
              <a:cs typeface="Patrick Hand SC"/>
              <a:sym typeface="Patrick Hand SC"/>
            </a:endParaRPr>
          </a:p>
        </p:txBody>
      </p:sp>
      <p:sp>
        <p:nvSpPr>
          <p:cNvPr descr="header" id="295" name="Google Shape;295;p37"/>
          <p:cNvSpPr txBox="1"/>
          <p:nvPr>
            <p:ph idx="4294967295" type="subTitle"/>
          </p:nvPr>
        </p:nvSpPr>
        <p:spPr>
          <a:xfrm>
            <a:off x="4456900" y="1465775"/>
            <a:ext cx="33834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" sz="2000">
                <a:latin typeface="Patrick Hand SC"/>
                <a:ea typeface="Patrick Hand SC"/>
                <a:cs typeface="Patrick Hand SC"/>
                <a:sym typeface="Patrick Hand SC"/>
              </a:rPr>
              <a:t>Platform Release Trends</a:t>
            </a:r>
            <a:endParaRPr sz="2000">
              <a:latin typeface="Patrick Hand SC"/>
              <a:ea typeface="Patrick Hand SC"/>
              <a:cs typeface="Patrick Hand SC"/>
              <a:sym typeface="Patrick Hand SC"/>
            </a:endParaRPr>
          </a:p>
        </p:txBody>
      </p:sp>
      <p:sp>
        <p:nvSpPr>
          <p:cNvPr descr="detail" id="296" name="Google Shape;296;p37"/>
          <p:cNvSpPr txBox="1"/>
          <p:nvPr>
            <p:ph idx="1" type="body"/>
          </p:nvPr>
        </p:nvSpPr>
        <p:spPr>
          <a:xfrm>
            <a:off x="4456900" y="2037300"/>
            <a:ext cx="3800400" cy="26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31775" lvl="0" marL="3429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"/>
              <a:t>Initial plot including all platforms was cluttered and hard to interpret</a:t>
            </a:r>
            <a:endParaRPr/>
          </a:p>
          <a:p>
            <a:pPr indent="-231775" lvl="0" marL="3429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"/>
              <a:t>Filtered dataset to only the Top 10 platforms for clearer focus and better readability</a:t>
            </a:r>
            <a:endParaRPr/>
          </a:p>
          <a:p>
            <a:pPr indent="-231775" lvl="0" marL="3429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"/>
              <a:t>Utilized Seaborn’s displot function, which provides automatic layering and smooth density estimation</a:t>
            </a:r>
            <a:endParaRPr/>
          </a:p>
          <a:p>
            <a:pPr indent="-231775" lvl="0" marL="342900" rtl="0" algn="l">
              <a:spcBef>
                <a:spcPts val="900"/>
              </a:spcBef>
              <a:spcAft>
                <a:spcPts val="800"/>
              </a:spcAft>
              <a:buClr>
                <a:schemeClr val="dk1"/>
              </a:buClr>
              <a:buSzPts val="1400"/>
              <a:buChar char="•"/>
            </a:pPr>
            <a:r>
              <a:rPr lang="en"/>
              <a:t>Applied the 'tab10' color palette ensuring consistent, color-coded mapping in the legend for easy platform identification</a:t>
            </a:r>
            <a:endParaRPr/>
          </a:p>
        </p:txBody>
      </p:sp>
      <p:sp>
        <p:nvSpPr>
          <p:cNvPr descr="title" id="297" name="Google Shape;297;p37"/>
          <p:cNvSpPr txBox="1"/>
          <p:nvPr>
            <p:ph type="title"/>
          </p:nvPr>
        </p:nvSpPr>
        <p:spPr>
          <a:xfrm>
            <a:off x="2602925" y="190925"/>
            <a:ext cx="2654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n" sz="3400"/>
              <a:t>Release Trends</a:t>
            </a:r>
            <a:endParaRPr b="0" sz="3400"/>
          </a:p>
        </p:txBody>
      </p:sp>
      <p:pic>
        <p:nvPicPr>
          <p:cNvPr id="298" name="Google Shape;298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7640871">
            <a:off x="219247" y="4414393"/>
            <a:ext cx="613056" cy="42602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9" name="Google Shape;299;p37"/>
          <p:cNvGrpSpPr/>
          <p:nvPr/>
        </p:nvGrpSpPr>
        <p:grpSpPr>
          <a:xfrm>
            <a:off x="7086600" y="-1285550"/>
            <a:ext cx="2057400" cy="1033200"/>
            <a:chOff x="6922975" y="1548525"/>
            <a:chExt cx="2057400" cy="1033200"/>
          </a:xfrm>
        </p:grpSpPr>
        <p:grpSp>
          <p:nvGrpSpPr>
            <p:cNvPr id="300" name="Google Shape;300;p37"/>
            <p:cNvGrpSpPr/>
            <p:nvPr/>
          </p:nvGrpSpPr>
          <p:grpSpPr>
            <a:xfrm>
              <a:off x="6922975" y="1548525"/>
              <a:ext cx="2057400" cy="1033200"/>
              <a:chOff x="6172200" y="152400"/>
              <a:chExt cx="2057400" cy="1033200"/>
            </a:xfrm>
          </p:grpSpPr>
          <p:sp>
            <p:nvSpPr>
              <p:cNvPr id="301" name="Google Shape;301;p37"/>
              <p:cNvSpPr/>
              <p:nvPr/>
            </p:nvSpPr>
            <p:spPr>
              <a:xfrm>
                <a:off x="6172200" y="152400"/>
                <a:ext cx="2057400" cy="1033200"/>
              </a:xfrm>
              <a:prstGeom prst="roundRect">
                <a:avLst>
                  <a:gd fmla="val 8292" name="adj"/>
                </a:avLst>
              </a:prstGeom>
              <a:solidFill>
                <a:srgbClr val="FFFEAC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14288" rotWithShape="0" algn="bl" dir="2760000" dist="57150">
                  <a:srgbClr val="000000">
                    <a:alpha val="19000"/>
                  </a:srgbClr>
                </a:outerShdw>
              </a:effectLst>
            </p:spPr>
            <p:txBody>
              <a:bodyPr anchorCtr="0" anchor="t" bIns="91425" lIns="0" spcFirstLastPara="1" rIns="91425" wrap="square" tIns="4572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sz="900"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02" name="Google Shape;302;p37"/>
              <p:cNvSpPr txBox="1"/>
              <p:nvPr/>
            </p:nvSpPr>
            <p:spPr>
              <a:xfrm>
                <a:off x="6467625" y="224325"/>
                <a:ext cx="15714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91425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latin typeface="Inter"/>
                    <a:ea typeface="Inter"/>
                    <a:cs typeface="Inter"/>
                    <a:sym typeface="Inter"/>
                  </a:rPr>
                  <a:t>Plus tip:</a:t>
                </a:r>
                <a:endParaRPr b="1" sz="900"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sp>
          <p:nvSpPr>
            <p:cNvPr descr="plus_tip" id="303" name="Google Shape;303;p37"/>
            <p:cNvSpPr txBox="1"/>
            <p:nvPr/>
          </p:nvSpPr>
          <p:spPr>
            <a:xfrm>
              <a:off x="6922975" y="1784025"/>
              <a:ext cx="2057400" cy="79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latin typeface="Inter"/>
                  <a:ea typeface="Inter"/>
                  <a:cs typeface="Inter"/>
                  <a:sym typeface="Inter"/>
                </a:rPr>
                <a:t>Customize this slide by including specific platform names or trends relevant to your audience for greater impact.</a:t>
              </a:r>
              <a:endParaRPr sz="800"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304" name="Google Shape;304;p37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016628" y="1652466"/>
              <a:ext cx="164591" cy="16459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05" name="Google Shape;305;p37" title="Screenshot 2025-11-02 at 5.07.03 PM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2878" y="1271300"/>
            <a:ext cx="3918171" cy="298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" y="1142995"/>
            <a:ext cx="422577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38"/>
          <p:cNvSpPr/>
          <p:nvPr/>
        </p:nvSpPr>
        <p:spPr>
          <a:xfrm rot="5400000">
            <a:off x="984720" y="-624103"/>
            <a:ext cx="399900" cy="23691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36FFB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chapter" id="312" name="Google Shape;312;p38"/>
          <p:cNvSpPr/>
          <p:nvPr/>
        </p:nvSpPr>
        <p:spPr>
          <a:xfrm rot="-461">
            <a:off x="125" y="404068"/>
            <a:ext cx="22368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7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Patrick Hand SC"/>
                <a:ea typeface="Patrick Hand SC"/>
                <a:cs typeface="Patrick Hand SC"/>
                <a:sym typeface="Patrick Hand SC"/>
              </a:rPr>
              <a:t>Publishers</a:t>
            </a:r>
            <a:endParaRPr sz="1600">
              <a:solidFill>
                <a:schemeClr val="dk1"/>
              </a:solidFill>
              <a:latin typeface="Patrick Hand SC"/>
              <a:ea typeface="Patrick Hand SC"/>
              <a:cs typeface="Patrick Hand SC"/>
              <a:sym typeface="Patrick Hand SC"/>
            </a:endParaRPr>
          </a:p>
        </p:txBody>
      </p:sp>
      <p:sp>
        <p:nvSpPr>
          <p:cNvPr descr="header_0" id="313" name="Google Shape;313;p38"/>
          <p:cNvSpPr txBox="1"/>
          <p:nvPr>
            <p:ph idx="4294967295" type="subTitle"/>
          </p:nvPr>
        </p:nvSpPr>
        <p:spPr>
          <a:xfrm>
            <a:off x="125" y="1120800"/>
            <a:ext cx="3734700" cy="3345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27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Patrick Hand SC"/>
                <a:ea typeface="Patrick Hand SC"/>
                <a:cs typeface="Patrick Hand SC"/>
                <a:sym typeface="Patrick Hand SC"/>
              </a:rPr>
              <a:t>Top Publishers by Count</a:t>
            </a:r>
            <a:endParaRPr sz="1600">
              <a:latin typeface="Patrick Hand SC"/>
              <a:ea typeface="Patrick Hand SC"/>
              <a:cs typeface="Patrick Hand SC"/>
              <a:sym typeface="Patrick Hand SC"/>
            </a:endParaRPr>
          </a:p>
        </p:txBody>
      </p:sp>
      <p:sp>
        <p:nvSpPr>
          <p:cNvPr descr="detail_0" id="314" name="Google Shape;314;p38"/>
          <p:cNvSpPr txBox="1"/>
          <p:nvPr>
            <p:ph idx="1" type="body"/>
          </p:nvPr>
        </p:nvSpPr>
        <p:spPr>
          <a:xfrm>
            <a:off x="71675" y="1868500"/>
            <a:ext cx="4343100" cy="207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5425" lvl="0" marL="3429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</a:pPr>
            <a:r>
              <a:rPr lang="en" sz="1300"/>
              <a:t>Activision, EA, and Ubisoft are the most prolific publishers by game count.</a:t>
            </a:r>
            <a:endParaRPr sz="1300"/>
          </a:p>
          <a:p>
            <a:pPr indent="-225425" lvl="0" marL="3429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</a:pPr>
            <a:r>
              <a:rPr lang="en" sz="1300"/>
              <a:t>These publishers dominate release volume across multiple gaming platforms.</a:t>
            </a:r>
            <a:endParaRPr sz="1300"/>
          </a:p>
          <a:p>
            <a:pPr indent="-225425" lvl="0" marL="3429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</a:pPr>
            <a:r>
              <a:rPr lang="en" sz="1300"/>
              <a:t>High output reflects strong market presence and production capacity.</a:t>
            </a:r>
            <a:endParaRPr sz="1300"/>
          </a:p>
          <a:p>
            <a:pPr indent="-225425" lvl="0" marL="342900" rtl="0" algn="l">
              <a:spcBef>
                <a:spcPts val="900"/>
              </a:spcBef>
              <a:spcAft>
                <a:spcPts val="800"/>
              </a:spcAft>
              <a:buClr>
                <a:schemeClr val="dk1"/>
              </a:buClr>
              <a:buSzPts val="1300"/>
              <a:buChar char="•"/>
            </a:pPr>
            <a:r>
              <a:rPr lang="en" sz="1300"/>
              <a:t>Barplots effectively highlight differences in publisher activity.</a:t>
            </a:r>
            <a:endParaRPr sz="1300"/>
          </a:p>
        </p:txBody>
      </p:sp>
      <p:grpSp>
        <p:nvGrpSpPr>
          <p:cNvPr id="315" name="Google Shape;315;p38"/>
          <p:cNvGrpSpPr/>
          <p:nvPr/>
        </p:nvGrpSpPr>
        <p:grpSpPr>
          <a:xfrm>
            <a:off x="155975" y="5352225"/>
            <a:ext cx="2057400" cy="1033200"/>
            <a:chOff x="6922975" y="1548525"/>
            <a:chExt cx="2057400" cy="1033200"/>
          </a:xfrm>
        </p:grpSpPr>
        <p:grpSp>
          <p:nvGrpSpPr>
            <p:cNvPr id="316" name="Google Shape;316;p38"/>
            <p:cNvGrpSpPr/>
            <p:nvPr/>
          </p:nvGrpSpPr>
          <p:grpSpPr>
            <a:xfrm>
              <a:off x="6922975" y="1548525"/>
              <a:ext cx="2057400" cy="1033200"/>
              <a:chOff x="6172200" y="152400"/>
              <a:chExt cx="2057400" cy="1033200"/>
            </a:xfrm>
          </p:grpSpPr>
          <p:sp>
            <p:nvSpPr>
              <p:cNvPr id="317" name="Google Shape;317;p38"/>
              <p:cNvSpPr/>
              <p:nvPr/>
            </p:nvSpPr>
            <p:spPr>
              <a:xfrm>
                <a:off x="6172200" y="152400"/>
                <a:ext cx="2057400" cy="1033200"/>
              </a:xfrm>
              <a:prstGeom prst="roundRect">
                <a:avLst>
                  <a:gd fmla="val 8292" name="adj"/>
                </a:avLst>
              </a:prstGeom>
              <a:solidFill>
                <a:srgbClr val="FFFEAC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14288" rotWithShape="0" algn="bl" dir="2760000" dist="57150">
                  <a:srgbClr val="000000">
                    <a:alpha val="19000"/>
                  </a:srgbClr>
                </a:outerShdw>
              </a:effectLst>
            </p:spPr>
            <p:txBody>
              <a:bodyPr anchorCtr="0" anchor="t" bIns="91425" lIns="0" spcFirstLastPara="1" rIns="91425" wrap="square" tIns="4572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sz="900"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18" name="Google Shape;318;p38"/>
              <p:cNvSpPr txBox="1"/>
              <p:nvPr/>
            </p:nvSpPr>
            <p:spPr>
              <a:xfrm>
                <a:off x="6467625" y="224325"/>
                <a:ext cx="15714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91425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latin typeface="Inter"/>
                    <a:ea typeface="Inter"/>
                    <a:cs typeface="Inter"/>
                    <a:sym typeface="Inter"/>
                  </a:rPr>
                  <a:t>Plus tip:</a:t>
                </a:r>
                <a:endParaRPr b="1" sz="900"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sp>
          <p:nvSpPr>
            <p:cNvPr descr="plus_tip" id="319" name="Google Shape;319;p38"/>
            <p:cNvSpPr txBox="1"/>
            <p:nvPr/>
          </p:nvSpPr>
          <p:spPr>
            <a:xfrm>
              <a:off x="6922975" y="1784025"/>
              <a:ext cx="2057400" cy="79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latin typeface="Inter"/>
                  <a:ea typeface="Inter"/>
                  <a:cs typeface="Inter"/>
                  <a:sym typeface="Inter"/>
                </a:rPr>
                <a:t>Customize by adding recent publisher data or regional performance insights to increase relevance.</a:t>
              </a:r>
              <a:endParaRPr sz="800"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320" name="Google Shape;32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016628" y="1652466"/>
              <a:ext cx="164591" cy="16459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21" name="Google Shape;321;p38" title="Screenshot 2025-11-02 at 5.29.25 PM.png"/>
          <p:cNvPicPr preferRelativeResize="0"/>
          <p:nvPr/>
        </p:nvPicPr>
        <p:blipFill rotWithShape="1">
          <a:blip r:embed="rId5">
            <a:alphaModFix/>
          </a:blip>
          <a:srcRect b="0" l="4752" r="0" t="0"/>
          <a:stretch/>
        </p:blipFill>
        <p:spPr>
          <a:xfrm>
            <a:off x="4443750" y="1120800"/>
            <a:ext cx="4659349" cy="347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32833" y="99138"/>
            <a:ext cx="679301" cy="638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title" id="327" name="Google Shape;327;p39"/>
          <p:cNvSpPr txBox="1"/>
          <p:nvPr>
            <p:ph type="title"/>
          </p:nvPr>
        </p:nvSpPr>
        <p:spPr>
          <a:xfrm>
            <a:off x="2799450" y="229125"/>
            <a:ext cx="2715900" cy="58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n" sz="3200"/>
              <a:t>Score Insights</a:t>
            </a:r>
            <a:endParaRPr b="0" sz="3200"/>
          </a:p>
        </p:txBody>
      </p:sp>
      <p:sp>
        <p:nvSpPr>
          <p:cNvPr id="328" name="Google Shape;328;p39"/>
          <p:cNvSpPr/>
          <p:nvPr/>
        </p:nvSpPr>
        <p:spPr>
          <a:xfrm rot="5400000">
            <a:off x="984720" y="-624103"/>
            <a:ext cx="399900" cy="23691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36FFB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chapter" id="329" name="Google Shape;329;p39"/>
          <p:cNvSpPr/>
          <p:nvPr/>
        </p:nvSpPr>
        <p:spPr>
          <a:xfrm rot="-461">
            <a:off x="125" y="404068"/>
            <a:ext cx="22368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7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Patrick Hand SC"/>
                <a:ea typeface="Patrick Hand SC"/>
                <a:cs typeface="Patrick Hand SC"/>
                <a:sym typeface="Patrick Hand SC"/>
              </a:rPr>
              <a:t>Analysis</a:t>
            </a:r>
            <a:endParaRPr sz="1600">
              <a:solidFill>
                <a:schemeClr val="dk1"/>
              </a:solidFill>
              <a:latin typeface="Patrick Hand SC"/>
              <a:ea typeface="Patrick Hand SC"/>
              <a:cs typeface="Patrick Hand SC"/>
              <a:sym typeface="Patrick Hand SC"/>
            </a:endParaRPr>
          </a:p>
        </p:txBody>
      </p:sp>
      <p:sp>
        <p:nvSpPr>
          <p:cNvPr descr="header_0" id="330" name="Google Shape;330;p39"/>
          <p:cNvSpPr txBox="1"/>
          <p:nvPr>
            <p:ph idx="4294967295" type="subTitle"/>
          </p:nvPr>
        </p:nvSpPr>
        <p:spPr>
          <a:xfrm>
            <a:off x="719150" y="2877800"/>
            <a:ext cx="2477400" cy="533400"/>
          </a:xfrm>
          <a:prstGeom prst="rect">
            <a:avLst/>
          </a:prstGeom>
          <a:noFill/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1600">
                <a:latin typeface="Patrick Hand SC"/>
                <a:ea typeface="Patrick Hand SC"/>
                <a:cs typeface="Patrick Hand SC"/>
                <a:sym typeface="Patrick Hand SC"/>
              </a:rPr>
              <a:t>Critic Score Distribution</a:t>
            </a:r>
            <a:endParaRPr sz="1600">
              <a:latin typeface="Patrick Hand SC"/>
              <a:ea typeface="Patrick Hand SC"/>
              <a:cs typeface="Patrick Hand SC"/>
              <a:sym typeface="Patrick Hand SC"/>
            </a:endParaRPr>
          </a:p>
        </p:txBody>
      </p:sp>
      <p:sp>
        <p:nvSpPr>
          <p:cNvPr descr="header_1" id="331" name="Google Shape;331;p39"/>
          <p:cNvSpPr txBox="1"/>
          <p:nvPr>
            <p:ph idx="4294967295" type="subTitle"/>
          </p:nvPr>
        </p:nvSpPr>
        <p:spPr>
          <a:xfrm>
            <a:off x="3326050" y="2877800"/>
            <a:ext cx="2477400" cy="533400"/>
          </a:xfrm>
          <a:prstGeom prst="rect">
            <a:avLst/>
          </a:prstGeom>
          <a:noFill/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1600">
                <a:latin typeface="Patrick Hand SC"/>
                <a:ea typeface="Patrick Hand SC"/>
                <a:cs typeface="Patrick Hand SC"/>
                <a:sym typeface="Patrick Hand SC"/>
              </a:rPr>
              <a:t>User Score Variability</a:t>
            </a:r>
            <a:endParaRPr sz="1600">
              <a:latin typeface="Patrick Hand SC"/>
              <a:ea typeface="Patrick Hand SC"/>
              <a:cs typeface="Patrick Hand SC"/>
              <a:sym typeface="Patrick Hand SC"/>
            </a:endParaRPr>
          </a:p>
        </p:txBody>
      </p:sp>
      <p:sp>
        <p:nvSpPr>
          <p:cNvPr descr="detail_0" id="332" name="Google Shape;332;p39"/>
          <p:cNvSpPr txBox="1"/>
          <p:nvPr>
            <p:ph idx="1" type="body"/>
          </p:nvPr>
        </p:nvSpPr>
        <p:spPr>
          <a:xfrm>
            <a:off x="719150" y="3411200"/>
            <a:ext cx="2477400" cy="13893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1000"/>
              </a:spcAft>
              <a:buNone/>
            </a:pPr>
            <a:r>
              <a:rPr lang="en" sz="1200"/>
              <a:t>Critic scores form a bell-shaped curve centered near 8, indicating consistent critical reception.</a:t>
            </a:r>
            <a:endParaRPr sz="1200"/>
          </a:p>
        </p:txBody>
      </p:sp>
      <p:sp>
        <p:nvSpPr>
          <p:cNvPr descr="detail_1" id="333" name="Google Shape;333;p39"/>
          <p:cNvSpPr txBox="1"/>
          <p:nvPr>
            <p:ph idx="1" type="body"/>
          </p:nvPr>
        </p:nvSpPr>
        <p:spPr>
          <a:xfrm>
            <a:off x="3326050" y="3411200"/>
            <a:ext cx="2477400" cy="13893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1000"/>
              </a:spcAft>
              <a:buNone/>
            </a:pPr>
            <a:r>
              <a:rPr lang="en" sz="1200"/>
              <a:t>User scores show greater variability and a lower average than critics, reflecting diverse player opinions.</a:t>
            </a:r>
            <a:endParaRPr sz="1200"/>
          </a:p>
        </p:txBody>
      </p:sp>
      <p:sp>
        <p:nvSpPr>
          <p:cNvPr descr="header_2" id="334" name="Google Shape;334;p39"/>
          <p:cNvSpPr txBox="1"/>
          <p:nvPr>
            <p:ph idx="4294967295" type="subTitle"/>
          </p:nvPr>
        </p:nvSpPr>
        <p:spPr>
          <a:xfrm>
            <a:off x="5979750" y="2877800"/>
            <a:ext cx="2477400" cy="533400"/>
          </a:xfrm>
          <a:prstGeom prst="rect">
            <a:avLst/>
          </a:prstGeom>
          <a:noFill/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1600">
                <a:latin typeface="Patrick Hand SC"/>
                <a:ea typeface="Patrick Hand SC"/>
                <a:cs typeface="Patrick Hand SC"/>
                <a:sym typeface="Patrick Hand SC"/>
              </a:rPr>
              <a:t>Boxplot by Platform</a:t>
            </a:r>
            <a:endParaRPr sz="1600">
              <a:latin typeface="Patrick Hand SC"/>
              <a:ea typeface="Patrick Hand SC"/>
              <a:cs typeface="Patrick Hand SC"/>
              <a:sym typeface="Patrick Hand SC"/>
            </a:endParaRPr>
          </a:p>
        </p:txBody>
      </p:sp>
      <p:sp>
        <p:nvSpPr>
          <p:cNvPr descr="detail_2" id="335" name="Google Shape;335;p39"/>
          <p:cNvSpPr txBox="1"/>
          <p:nvPr>
            <p:ph idx="1" type="body"/>
          </p:nvPr>
        </p:nvSpPr>
        <p:spPr>
          <a:xfrm>
            <a:off x="5979750" y="3411200"/>
            <a:ext cx="2477400" cy="13893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1000"/>
              </a:spcAft>
              <a:buNone/>
            </a:pPr>
            <a:r>
              <a:rPr lang="en" sz="1200"/>
              <a:t>Boxplots display median, interquartile range, whiskers, and outliers; PC platform shows the widest score range.</a:t>
            </a:r>
            <a:endParaRPr sz="1200"/>
          </a:p>
        </p:txBody>
      </p:sp>
      <p:grpSp>
        <p:nvGrpSpPr>
          <p:cNvPr id="336" name="Google Shape;336;p39"/>
          <p:cNvGrpSpPr/>
          <p:nvPr/>
        </p:nvGrpSpPr>
        <p:grpSpPr>
          <a:xfrm>
            <a:off x="6912350" y="-351175"/>
            <a:ext cx="2057400" cy="1033200"/>
            <a:chOff x="6922975" y="1548525"/>
            <a:chExt cx="2057400" cy="1033200"/>
          </a:xfrm>
        </p:grpSpPr>
        <p:grpSp>
          <p:nvGrpSpPr>
            <p:cNvPr id="337" name="Google Shape;337;p39"/>
            <p:cNvGrpSpPr/>
            <p:nvPr/>
          </p:nvGrpSpPr>
          <p:grpSpPr>
            <a:xfrm>
              <a:off x="6922975" y="1548525"/>
              <a:ext cx="2057400" cy="1033200"/>
              <a:chOff x="6172200" y="152400"/>
              <a:chExt cx="2057400" cy="1033200"/>
            </a:xfrm>
          </p:grpSpPr>
          <p:sp>
            <p:nvSpPr>
              <p:cNvPr id="338" name="Google Shape;338;p39"/>
              <p:cNvSpPr/>
              <p:nvPr/>
            </p:nvSpPr>
            <p:spPr>
              <a:xfrm>
                <a:off x="6172200" y="152400"/>
                <a:ext cx="2057400" cy="1033200"/>
              </a:xfrm>
              <a:prstGeom prst="roundRect">
                <a:avLst>
                  <a:gd fmla="val 8292" name="adj"/>
                </a:avLst>
              </a:prstGeom>
              <a:solidFill>
                <a:srgbClr val="FFFEAC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14288" rotWithShape="0" algn="bl" dir="2760000" dist="57150">
                  <a:srgbClr val="000000">
                    <a:alpha val="19000"/>
                  </a:srgbClr>
                </a:outerShdw>
              </a:effectLst>
            </p:spPr>
            <p:txBody>
              <a:bodyPr anchorCtr="0" anchor="t" bIns="91425" lIns="0" spcFirstLastPara="1" rIns="91425" wrap="square" tIns="4572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sz="900"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39" name="Google Shape;339;p39"/>
              <p:cNvSpPr txBox="1"/>
              <p:nvPr/>
            </p:nvSpPr>
            <p:spPr>
              <a:xfrm>
                <a:off x="6467625" y="224325"/>
                <a:ext cx="15714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91425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latin typeface="Inter"/>
                    <a:ea typeface="Inter"/>
                    <a:cs typeface="Inter"/>
                    <a:sym typeface="Inter"/>
                  </a:rPr>
                  <a:t>Plus tip:</a:t>
                </a:r>
                <a:endParaRPr b="1" sz="900"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sp>
          <p:nvSpPr>
            <p:cNvPr descr="plus_tip" id="340" name="Google Shape;340;p39"/>
            <p:cNvSpPr txBox="1"/>
            <p:nvPr/>
          </p:nvSpPr>
          <p:spPr>
            <a:xfrm>
              <a:off x="6922975" y="1784025"/>
              <a:ext cx="2057400" cy="79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latin typeface="Inter"/>
                  <a:ea typeface="Inter"/>
                  <a:cs typeface="Inter"/>
                  <a:sym typeface="Inter"/>
                </a:rPr>
                <a:t>Use platform logos or icons in the boxplot section to help the audience quickly identify each platform.</a:t>
              </a:r>
              <a:endParaRPr sz="800"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341" name="Google Shape;341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016628" y="1652466"/>
              <a:ext cx="164591" cy="16459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42" name="Google Shape;342;p39" title="Screenshot 2025-11-02 at 5.31.24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0150" y="1335124"/>
            <a:ext cx="2468880" cy="155447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39" title="Screenshot 2025-11-02 at 5.32.08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84951" y="1323311"/>
            <a:ext cx="2468879" cy="155447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39" title="Screenshot 2025-11-02 at 5.34.36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84012" y="1335124"/>
            <a:ext cx="2468880" cy="15544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ketchpad">
  <a:themeElements>
    <a:clrScheme name="Composition">
      <a:dk1>
        <a:srgbClr val="000000"/>
      </a:dk1>
      <a:lt1>
        <a:srgbClr val="FFFFFF"/>
      </a:lt1>
      <a:dk2>
        <a:srgbClr val="EFEFEF"/>
      </a:dk2>
      <a:lt2>
        <a:srgbClr val="999999"/>
      </a:lt2>
      <a:accent1>
        <a:srgbClr val="36FFB1"/>
      </a:accent1>
      <a:accent2>
        <a:srgbClr val="33C97F"/>
      </a:accent2>
      <a:accent3>
        <a:srgbClr val="008F58"/>
      </a:accent3>
      <a:accent4>
        <a:srgbClr val="70FFC8"/>
      </a:accent4>
      <a:accent5>
        <a:srgbClr val="ADFFE0"/>
      </a:accent5>
      <a:accent6>
        <a:srgbClr val="B5B7BA"/>
      </a:accent6>
      <a:hlink>
        <a:srgbClr val="36FFB1"/>
      </a:hlink>
      <a:folHlink>
        <a:srgbClr val="01162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